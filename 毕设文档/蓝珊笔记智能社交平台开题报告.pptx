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9" r:id="rId5"/>
    <p:sldId id="257" r:id="rId6"/>
    <p:sldId id="258" r:id="rId7"/>
    <p:sldId id="261" r:id="rId8"/>
    <p:sldId id="260" r:id="rId9"/>
    <p:sldId id="263" r:id="rId10"/>
    <p:sldId id="262" r:id="rId11"/>
    <p:sldId id="265" r:id="rId12"/>
    <p:sldId id="264" r:id="rId13"/>
    <p:sldId id="267" r:id="rId14"/>
    <p:sldId id="266" r:id="rId15"/>
    <p:sldId id="269" r:id="rId16"/>
    <p:sldId id="268" r:id="rId17"/>
    <p:sldId id="270" r:id="rId18"/>
    <p:sldId id="271" r:id="rId19"/>
    <p:sldId id="272" r:id="rId20"/>
  </p:sldIdLst>
  <p:sldSz cx="12192000" cy="6858000"/>
  <p:notesSz cx="6858000" cy="12192000"/>
  <p:embeddedFontLst>
    <p:embeddedFont>
      <p:font typeface="MiSans" pitchFamily="34" charset="-122"/>
      <p:regular r:id="rId24"/>
    </p:embeddedFont>
    <p:embeddedFont>
      <p:font typeface="MiSans" pitchFamily="34" charset="-120"/>
      <p:regular r:id="rId25"/>
    </p:embeddedFont>
    <p:embeddedFont>
      <p:font typeface="Calibri" panose="020F0502020204030204" charset="0"/>
      <p:regular r:id="rId26"/>
      <p:bold r:id="rId27"/>
      <p:italic r:id="rId28"/>
      <p:boldItalic r:id="rId29"/>
    </p:embeddedFont>
    <p:embeddedFont>
      <p:font typeface="等线" panose="02010600030101010101" charset="-122"/>
      <p:regular r:id="rId3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font" Target="fonts/font7.fntdata"/><Relationship Id="rId3" Type="http://schemas.openxmlformats.org/officeDocument/2006/relationships/slide" Target="slides/slide1.xml"/><Relationship Id="rId29" Type="http://schemas.openxmlformats.org/officeDocument/2006/relationships/font" Target="fonts/font6.fntdata"/><Relationship Id="rId28" Type="http://schemas.openxmlformats.org/officeDocument/2006/relationships/font" Target="fonts/font5.fntdata"/><Relationship Id="rId27" Type="http://schemas.openxmlformats.org/officeDocument/2006/relationships/font" Target="fonts/font4.fntdata"/><Relationship Id="rId26" Type="http://schemas.openxmlformats.org/officeDocument/2006/relationships/font" Target="fonts/font3.fntdata"/><Relationship Id="rId25" Type="http://schemas.openxmlformats.org/officeDocument/2006/relationships/font" Target="fonts/font2.fntdata"/><Relationship Id="rId24" Type="http://schemas.openxmlformats.org/officeDocument/2006/relationships/font" Target="fonts/font1.fntdata"/><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image" Target="../media/image2.png"/><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1" Type="http://schemas.openxmlformats.org/officeDocument/2006/relationships/notesSlide" Target="../notesSlides/notesSlide3.xml"/><Relationship Id="rId20" Type="http://schemas.openxmlformats.org/officeDocument/2006/relationships/slideLayout" Target="../slideLayouts/slideLayout1.xml"/><Relationship Id="rId2" Type="http://schemas.openxmlformats.org/officeDocument/2006/relationships/tags" Target="../tags/tag2.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p:spPr>
      </p:sp>
      <p:sp>
        <p:nvSpPr>
          <p:cNvPr id="5" name="Text 3"/>
          <p:cNvSpPr/>
          <p:nvPr/>
        </p:nvSpPr>
        <p:spPr>
          <a:xfrm>
            <a:off x="4445" y="0"/>
            <a:ext cx="12187555" cy="6875780"/>
          </a:xfrm>
          <a:prstGeom prst="rect">
            <a:avLst/>
          </a:prstGeom>
          <a:noFill/>
        </p:spPr>
        <p:txBody>
          <a:bodyPr wrap="square" lIns="45720" tIns="91440" rIns="91440" bIns="45720" rtlCol="0" anchor="ctr"/>
          <a:lstStyle/>
          <a:p>
            <a:pPr>
              <a:lnSpc>
                <a:spcPct val="100000"/>
              </a:lnSpc>
            </a:pPr>
            <a:endParaRPr lang="en-US" sz="1600" dirty="0"/>
          </a:p>
        </p:txBody>
      </p:sp>
      <p:sp>
        <p:nvSpPr>
          <p:cNvPr id="6" name="Text 4"/>
          <p:cNvSpPr/>
          <p:nvPr/>
        </p:nvSpPr>
        <p:spPr>
          <a:xfrm>
            <a:off x="859790" y="1950085"/>
            <a:ext cx="6831330" cy="2115820"/>
          </a:xfrm>
          <a:prstGeom prst="rect">
            <a:avLst/>
          </a:prstGeom>
          <a:noFill/>
        </p:spPr>
        <p:txBody>
          <a:bodyPr wrap="square" lIns="91440" tIns="45720" rIns="91440" bIns="45720" rtlCol="0" anchor="t"/>
          <a:lstStyle/>
          <a:p>
            <a:pPr>
              <a:lnSpc>
                <a:spcPct val="120000"/>
              </a:lnSpc>
            </a:pPr>
            <a:r>
              <a:rPr lang="en-US" sz="5400" b="1" dirty="0">
                <a:solidFill>
                  <a:srgbClr val="FFFFFF"/>
                </a:solidFill>
                <a:latin typeface="MiSans" pitchFamily="34" charset="-122"/>
                <a:ea typeface="MiSans" pitchFamily="34" charset="-122"/>
                <a:cs typeface="MiSans" pitchFamily="34" charset="-120"/>
              </a:rPr>
              <a:t>蓝珊笔记智能社交平台开题报告</a:t>
            </a:r>
            <a:endParaRPr lang="en-US" sz="1600" dirty="0"/>
          </a:p>
        </p:txBody>
      </p:sp>
      <p:sp>
        <p:nvSpPr>
          <p:cNvPr id="7" name="Shape 5"/>
          <p:cNvSpPr/>
          <p:nvPr/>
        </p:nvSpPr>
        <p:spPr>
          <a:xfrm>
            <a:off x="941070" y="4754245"/>
            <a:ext cx="2057400" cy="518160"/>
          </a:xfrm>
          <a:prstGeom prst="roundRect">
            <a:avLst>
              <a:gd name="adj" fmla="val 50000"/>
            </a:avLst>
          </a:prstGeom>
          <a:solidFill>
            <a:srgbClr val="FFFFFF"/>
          </a:solidFill>
        </p:spPr>
      </p:sp>
      <p:sp>
        <p:nvSpPr>
          <p:cNvPr id="8" name="Text 6"/>
          <p:cNvSpPr/>
          <p:nvPr/>
        </p:nvSpPr>
        <p:spPr>
          <a:xfrm>
            <a:off x="941070" y="4754245"/>
            <a:ext cx="2057400" cy="518160"/>
          </a:xfrm>
          <a:prstGeom prst="rect">
            <a:avLst/>
          </a:prstGeom>
          <a:noFill/>
        </p:spPr>
        <p:txBody>
          <a:bodyPr wrap="square" lIns="45720" tIns="91440" rIns="91440" bIns="45720" rtlCol="0" anchor="ctr"/>
          <a:lstStyle/>
          <a:p>
            <a:pPr>
              <a:lnSpc>
                <a:spcPct val="100000"/>
              </a:lnSpc>
            </a:pPr>
            <a:endParaRPr lang="en-US" sz="1600" dirty="0"/>
          </a:p>
        </p:txBody>
      </p:sp>
      <p:sp>
        <p:nvSpPr>
          <p:cNvPr id="9" name="Text 7"/>
          <p:cNvSpPr/>
          <p:nvPr/>
        </p:nvSpPr>
        <p:spPr>
          <a:xfrm>
            <a:off x="845185" y="4813935"/>
            <a:ext cx="2249805" cy="398780"/>
          </a:xfrm>
          <a:prstGeom prst="rect">
            <a:avLst/>
          </a:prstGeom>
          <a:noFill/>
        </p:spPr>
        <p:txBody>
          <a:bodyPr wrap="square" lIns="91440" tIns="45720" rIns="91440" bIns="45720" rtlCol="0" anchor="t">
            <a:spAutoFit/>
          </a:bodyPr>
          <a:lstStyle/>
          <a:p>
            <a:pPr algn="ctr">
              <a:lnSpc>
                <a:spcPct val="100000"/>
              </a:lnSpc>
            </a:pPr>
            <a:r>
              <a:rPr lang="en-US" sz="2000" dirty="0">
                <a:solidFill>
                  <a:srgbClr val="402E7F"/>
                </a:solidFill>
                <a:latin typeface="MiSans" pitchFamily="34" charset="-122"/>
                <a:ea typeface="MiSans" pitchFamily="34" charset="-122"/>
                <a:cs typeface="MiSans" pitchFamily="34" charset="-120"/>
              </a:rPr>
              <a:t>汇报人:</a:t>
            </a:r>
            <a:r>
              <a:rPr lang="zh-CN" altLang="en-US" sz="2000" dirty="0">
                <a:solidFill>
                  <a:srgbClr val="402E7F"/>
                </a:solidFill>
                <a:latin typeface="MiSans" pitchFamily="34" charset="-122"/>
                <a:ea typeface="MiSans" pitchFamily="34" charset="-122"/>
                <a:cs typeface="MiSans" pitchFamily="34" charset="-120"/>
              </a:rPr>
              <a:t>桑子翔</a:t>
            </a:r>
            <a:endParaRPr lang="zh-CN" altLang="en-US" sz="2000" dirty="0">
              <a:solidFill>
                <a:srgbClr val="402E7F"/>
              </a:solidFill>
              <a:latin typeface="MiSans" pitchFamily="34" charset="-122"/>
              <a:ea typeface="MiSans" pitchFamily="34" charset="-122"/>
              <a:cs typeface="MiSans" pitchFamily="34" charset="-120"/>
            </a:endParaRPr>
          </a:p>
        </p:txBody>
      </p:sp>
      <p:sp>
        <p:nvSpPr>
          <p:cNvPr id="10" name="Shape 8"/>
          <p:cNvSpPr/>
          <p:nvPr/>
        </p:nvSpPr>
        <p:spPr>
          <a:xfrm>
            <a:off x="3323590" y="4754245"/>
            <a:ext cx="2057400" cy="518160"/>
          </a:xfrm>
          <a:prstGeom prst="roundRect">
            <a:avLst>
              <a:gd name="adj" fmla="val 50000"/>
            </a:avLst>
          </a:prstGeom>
          <a:solidFill>
            <a:srgbClr val="FFFFFF"/>
          </a:solidFill>
        </p:spPr>
      </p:sp>
      <p:sp>
        <p:nvSpPr>
          <p:cNvPr id="11" name="Text 9"/>
          <p:cNvSpPr/>
          <p:nvPr/>
        </p:nvSpPr>
        <p:spPr>
          <a:xfrm>
            <a:off x="3323590" y="4754245"/>
            <a:ext cx="2057400" cy="518160"/>
          </a:xfrm>
          <a:prstGeom prst="rect">
            <a:avLst/>
          </a:prstGeom>
          <a:noFill/>
        </p:spPr>
        <p:txBody>
          <a:bodyPr wrap="square" lIns="45720" tIns="91440" rIns="91440" bIns="45720" rtlCol="0" anchor="ctr"/>
          <a:lstStyle/>
          <a:p>
            <a:pPr>
              <a:lnSpc>
                <a:spcPct val="100000"/>
              </a:lnSpc>
            </a:pPr>
            <a:endParaRPr lang="en-US" sz="1600" dirty="0"/>
          </a:p>
        </p:txBody>
      </p:sp>
      <p:sp>
        <p:nvSpPr>
          <p:cNvPr id="12" name="Text 10"/>
          <p:cNvSpPr/>
          <p:nvPr/>
        </p:nvSpPr>
        <p:spPr>
          <a:xfrm>
            <a:off x="3227705" y="4813935"/>
            <a:ext cx="2249805" cy="398780"/>
          </a:xfrm>
          <a:prstGeom prst="rect">
            <a:avLst/>
          </a:prstGeom>
          <a:noFill/>
        </p:spPr>
        <p:txBody>
          <a:bodyPr wrap="square" lIns="91440" tIns="45720" rIns="91440" bIns="45720" rtlCol="0" anchor="t">
            <a:spAutoFit/>
          </a:bodyPr>
          <a:lstStyle/>
          <a:p>
            <a:pPr algn="ctr">
              <a:lnSpc>
                <a:spcPct val="100000"/>
              </a:lnSpc>
            </a:pPr>
            <a:r>
              <a:rPr lang="en-US" sz="2000" dirty="0">
                <a:solidFill>
                  <a:srgbClr val="402E7F"/>
                </a:solidFill>
                <a:latin typeface="MiSans" pitchFamily="34" charset="-122"/>
                <a:ea typeface="MiSans" pitchFamily="34" charset="-122"/>
                <a:cs typeface="MiSans" pitchFamily="34" charset="-120"/>
              </a:rPr>
              <a:t>时间:2025.11.20</a:t>
            </a:r>
            <a:endParaRPr lang="en-US" sz="1600" dirty="0"/>
          </a:p>
        </p:txBody>
      </p:sp>
      <p:sp>
        <p:nvSpPr>
          <p:cNvPr id="13" name="Shape 11"/>
          <p:cNvSpPr/>
          <p:nvPr/>
        </p:nvSpPr>
        <p:spPr>
          <a:xfrm>
            <a:off x="852805" y="469900"/>
            <a:ext cx="106680" cy="106680"/>
          </a:xfrm>
          <a:prstGeom prst="ellipse">
            <a:avLst/>
          </a:prstGeom>
          <a:solidFill>
            <a:srgbClr val="FFFFFF"/>
          </a:solidFill>
        </p:spPr>
      </p:sp>
      <p:sp>
        <p:nvSpPr>
          <p:cNvPr id="14" name="Text 12"/>
          <p:cNvSpPr/>
          <p:nvPr/>
        </p:nvSpPr>
        <p:spPr>
          <a:xfrm>
            <a:off x="85280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5" name="Shape 13"/>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16" name="Text 14"/>
          <p:cNvSpPr/>
          <p:nvPr/>
        </p:nvSpPr>
        <p:spPr>
          <a:xfrm>
            <a:off x="113665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7" name="Shape 15"/>
          <p:cNvSpPr/>
          <p:nvPr/>
        </p:nvSpPr>
        <p:spPr>
          <a:xfrm>
            <a:off x="1420495" y="469900"/>
            <a:ext cx="106680" cy="106680"/>
          </a:xfrm>
          <a:prstGeom prst="ellipse">
            <a:avLst/>
          </a:prstGeom>
          <a:solidFill>
            <a:srgbClr val="FFFFFF"/>
          </a:solidFill>
        </p:spPr>
      </p:sp>
      <p:sp>
        <p:nvSpPr>
          <p:cNvPr id="18" name="Text 16"/>
          <p:cNvSpPr/>
          <p:nvPr/>
        </p:nvSpPr>
        <p:spPr>
          <a:xfrm>
            <a:off x="142049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9" name="Shape 17"/>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20" name="Text 18"/>
          <p:cNvSpPr/>
          <p:nvPr/>
        </p:nvSpPr>
        <p:spPr>
          <a:xfrm>
            <a:off x="170434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21" name="Shape 19"/>
          <p:cNvSpPr/>
          <p:nvPr/>
        </p:nvSpPr>
        <p:spPr>
          <a:xfrm>
            <a:off x="1988185" y="469900"/>
            <a:ext cx="106680" cy="106680"/>
          </a:xfrm>
          <a:prstGeom prst="ellipse">
            <a:avLst/>
          </a:prstGeom>
          <a:solidFill>
            <a:srgbClr val="FFFFFF"/>
          </a:solidFill>
        </p:spPr>
      </p:sp>
      <p:sp>
        <p:nvSpPr>
          <p:cNvPr id="22" name="Text 20"/>
          <p:cNvSpPr/>
          <p:nvPr/>
        </p:nvSpPr>
        <p:spPr>
          <a:xfrm>
            <a:off x="198818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23" name="Shape 21"/>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24" name="Text 22"/>
          <p:cNvSpPr/>
          <p:nvPr/>
        </p:nvSpPr>
        <p:spPr>
          <a:xfrm>
            <a:off x="227203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25" name="Shape 23"/>
          <p:cNvSpPr/>
          <p:nvPr/>
        </p:nvSpPr>
        <p:spPr>
          <a:xfrm>
            <a:off x="11456035" y="381635"/>
            <a:ext cx="351155" cy="43815"/>
          </a:xfrm>
          <a:prstGeom prst="roundRect">
            <a:avLst>
              <a:gd name="adj" fmla="val 50000"/>
            </a:avLst>
          </a:prstGeom>
          <a:solidFill>
            <a:srgbClr val="FFFFFF"/>
          </a:solidFill>
        </p:spPr>
      </p:sp>
      <p:sp>
        <p:nvSpPr>
          <p:cNvPr id="26" name="Text 24"/>
          <p:cNvSpPr/>
          <p:nvPr/>
        </p:nvSpPr>
        <p:spPr>
          <a:xfrm>
            <a:off x="11456035" y="38163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7" name="Shape 25"/>
          <p:cNvSpPr/>
          <p:nvPr/>
        </p:nvSpPr>
        <p:spPr>
          <a:xfrm>
            <a:off x="11456035" y="501650"/>
            <a:ext cx="351155" cy="43815"/>
          </a:xfrm>
          <a:prstGeom prst="roundRect">
            <a:avLst>
              <a:gd name="adj" fmla="val 50000"/>
            </a:avLst>
          </a:prstGeom>
          <a:solidFill>
            <a:srgbClr val="FFFFFF"/>
          </a:solidFill>
        </p:spPr>
      </p:sp>
      <p:sp>
        <p:nvSpPr>
          <p:cNvPr id="28" name="Text 26"/>
          <p:cNvSpPr/>
          <p:nvPr/>
        </p:nvSpPr>
        <p:spPr>
          <a:xfrm>
            <a:off x="11456035" y="501650"/>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9" name="Shape 27"/>
          <p:cNvSpPr/>
          <p:nvPr/>
        </p:nvSpPr>
        <p:spPr>
          <a:xfrm>
            <a:off x="11456035" y="621665"/>
            <a:ext cx="351155" cy="43815"/>
          </a:xfrm>
          <a:prstGeom prst="roundRect">
            <a:avLst>
              <a:gd name="adj" fmla="val 50000"/>
            </a:avLst>
          </a:prstGeom>
          <a:solidFill>
            <a:srgbClr val="FFFFFF"/>
          </a:solidFill>
        </p:spPr>
      </p:sp>
      <p:sp>
        <p:nvSpPr>
          <p:cNvPr id="30" name="Text 28"/>
          <p:cNvSpPr/>
          <p:nvPr/>
        </p:nvSpPr>
        <p:spPr>
          <a:xfrm>
            <a:off x="11456035" y="62166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31" name="Shape 29"/>
          <p:cNvSpPr/>
          <p:nvPr/>
        </p:nvSpPr>
        <p:spPr>
          <a:xfrm>
            <a:off x="1727190" y="6306820"/>
            <a:ext cx="10080000" cy="0"/>
          </a:xfrm>
          <a:prstGeom prst="line">
            <a:avLst/>
          </a:prstGeom>
          <a:noFill/>
          <a:ln w="19050">
            <a:solidFill>
              <a:srgbClr val="FFFFFF"/>
            </a:solidFill>
            <a:prstDash val="solid"/>
            <a:headEnd type="none"/>
            <a:tailEnd type="none"/>
          </a:ln>
        </p:spPr>
      </p:sp>
      <p:sp>
        <p:nvSpPr>
          <p:cNvPr id="32" name="Shape 30"/>
          <p:cNvSpPr/>
          <p:nvPr/>
        </p:nvSpPr>
        <p:spPr>
          <a:xfrm>
            <a:off x="852805" y="6177280"/>
            <a:ext cx="259080" cy="259080"/>
          </a:xfrm>
          <a:prstGeom prst="ellipse">
            <a:avLst/>
          </a:prstGeom>
          <a:solidFill>
            <a:srgbClr val="FFFFFF"/>
          </a:solidFill>
        </p:spPr>
      </p:sp>
      <p:sp>
        <p:nvSpPr>
          <p:cNvPr id="33" name="Text 31"/>
          <p:cNvSpPr/>
          <p:nvPr/>
        </p:nvSpPr>
        <p:spPr>
          <a:xfrm>
            <a:off x="852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34" name="Shape 32"/>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35" name="Text 33"/>
          <p:cNvSpPr/>
          <p:nvPr/>
        </p:nvSpPr>
        <p:spPr>
          <a:xfrm>
            <a:off x="979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pic>
        <p:nvPicPr>
          <p:cNvPr id="4" name="Image 0" descr="https://test-kimi-img.moonshot.cn/pub/slides/slides_tmpl/image/25-08-11-17:38:58-d2crkcn0ctitcgma2i80.png"/>
          <p:cNvPicPr>
            <a:picLocks noChangeAspect="1"/>
          </p:cNvPicPr>
          <p:nvPr/>
        </p:nvPicPr>
        <p:blipFill>
          <a:blip r:embed="rId1"/>
          <a:srcRect l="52" r="52"/>
          <a:stretch>
            <a:fillRect/>
          </a:stretch>
        </p:blipFill>
        <p:spPr>
          <a:xfrm>
            <a:off x="6403975" y="1381760"/>
            <a:ext cx="4841240" cy="4589145"/>
          </a:xfrm>
          <a:prstGeom prst="rect">
            <a:avLst/>
          </a:prstGeom>
        </p:spPr>
      </p:pic>
      <p:sp>
        <p:nvSpPr>
          <p:cNvPr id="5" name="Text 2"/>
          <p:cNvSpPr/>
          <p:nvPr/>
        </p:nvSpPr>
        <p:spPr>
          <a:xfrm>
            <a:off x="582930" y="455295"/>
            <a:ext cx="10151745" cy="499467"/>
          </a:xfrm>
          <a:prstGeom prst="rect">
            <a:avLst/>
          </a:prstGeom>
          <a:noFill/>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122"/>
                <a:ea typeface="MiSans" pitchFamily="34" charset="-122"/>
                <a:cs typeface="MiSans" pitchFamily="34" charset="-120"/>
              </a:rPr>
              <a:t>开题报告</a:t>
            </a:r>
            <a:endParaRPr lang="en-US" sz="1600" dirty="0"/>
          </a:p>
        </p:txBody>
      </p:sp>
      <p:sp>
        <p:nvSpPr>
          <p:cNvPr id="6" name="Shape 3"/>
          <p:cNvSpPr/>
          <p:nvPr/>
        </p:nvSpPr>
        <p:spPr>
          <a:xfrm rot="16200000" flipH="1" flipV="1">
            <a:off x="5789295" y="455295"/>
            <a:ext cx="615950" cy="12192000"/>
          </a:xfrm>
          <a:prstGeom prst="round2DiagRect">
            <a:avLst>
              <a:gd name="adj1" fmla="val 0"/>
              <a:gd name="adj2" fmla="val 0"/>
            </a:avLst>
          </a:prstGeom>
          <a:solidFill>
            <a:srgbClr val="402E7F"/>
          </a:solidFill>
        </p:spPr>
      </p:sp>
      <p:sp>
        <p:nvSpPr>
          <p:cNvPr id="7" name="Text 4"/>
          <p:cNvSpPr/>
          <p:nvPr/>
        </p:nvSpPr>
        <p:spPr>
          <a:xfrm rot="16200000">
            <a:off x="5789295" y="455295"/>
            <a:ext cx="615950" cy="12192000"/>
          </a:xfrm>
          <a:prstGeom prst="rect">
            <a:avLst/>
          </a:prstGeom>
          <a:noFill/>
        </p:spPr>
        <p:txBody>
          <a:bodyPr wrap="square" lIns="45720" tIns="91440" rIns="91440" bIns="45720" rtlCol="0" anchor="ctr"/>
          <a:lstStyle/>
          <a:p>
            <a:pPr>
              <a:lnSpc>
                <a:spcPct val="100000"/>
              </a:lnSpc>
            </a:pPr>
            <a:endParaRPr lang="en-US" sz="1600" dirty="0"/>
          </a:p>
        </p:txBody>
      </p:sp>
      <p:sp>
        <p:nvSpPr>
          <p:cNvPr id="8" name="Text 5"/>
          <p:cNvSpPr/>
          <p:nvPr/>
        </p:nvSpPr>
        <p:spPr>
          <a:xfrm>
            <a:off x="1031240" y="1745615"/>
            <a:ext cx="4535468" cy="429617"/>
          </a:xfrm>
          <a:prstGeom prst="rect">
            <a:avLst/>
          </a:prstGeom>
          <a:noFill/>
        </p:spPr>
        <p:txBody>
          <a:bodyPr wrap="square" lIns="91440" tIns="45720" rIns="91440" bIns="45720" rtlCol="0" anchor="t">
            <a:spAutoFit/>
          </a:bodyPr>
          <a:lstStyle/>
          <a:p>
            <a:pPr algn="just">
              <a:lnSpc>
                <a:spcPct val="100000"/>
              </a:lnSpc>
            </a:pPr>
            <a:r>
              <a:rPr lang="en-US" sz="2800" b="1" dirty="0">
                <a:solidFill>
                  <a:srgbClr val="402E7F"/>
                </a:solidFill>
                <a:latin typeface="MiSans" pitchFamily="34" charset="-122"/>
                <a:ea typeface="MiSans" pitchFamily="34" charset="-122"/>
                <a:cs typeface="MiSans" pitchFamily="34" charset="-120"/>
              </a:rPr>
              <a:t>汇报人与导师信息</a:t>
            </a:r>
            <a:endParaRPr lang="en-US" sz="1600" dirty="0"/>
          </a:p>
        </p:txBody>
      </p:sp>
      <p:sp>
        <p:nvSpPr>
          <p:cNvPr id="9" name="Text 6"/>
          <p:cNvSpPr/>
          <p:nvPr/>
        </p:nvSpPr>
        <p:spPr>
          <a:xfrm>
            <a:off x="1031240" y="2830830"/>
            <a:ext cx="4545965" cy="3035935"/>
          </a:xfrm>
          <a:prstGeom prst="rect">
            <a:avLst/>
          </a:prstGeom>
          <a:noFill/>
        </p:spPr>
        <p:txBody>
          <a:bodyPr wrap="square" lIns="91440" tIns="45720" rIns="91440" bIns="45720" rtlCol="0" anchor="t"/>
          <a:lstStyle/>
          <a:p>
            <a:pPr algn="just">
              <a:lnSpc>
                <a:spcPct val="130000"/>
              </a:lnSpc>
            </a:pPr>
            <a:r>
              <a:rPr lang="en-US" sz="2000" dirty="0">
                <a:solidFill>
                  <a:srgbClr val="1E1C0D"/>
                </a:solidFill>
                <a:latin typeface="MiSans" pitchFamily="34" charset="-122"/>
                <a:ea typeface="MiSans" pitchFamily="34" charset="-122"/>
                <a:cs typeface="MiSans" pitchFamily="34" charset="-120"/>
              </a:rPr>
              <a:t>汇报人：</a:t>
            </a:r>
            <a:r>
              <a:rPr lang="zh-CN" altLang="en-US" sz="2000" dirty="0">
                <a:solidFill>
                  <a:srgbClr val="1E1C0D"/>
                </a:solidFill>
                <a:latin typeface="MiSans" pitchFamily="34" charset="-122"/>
                <a:ea typeface="MiSans" pitchFamily="34" charset="-122"/>
                <a:cs typeface="MiSans" pitchFamily="34" charset="-120"/>
              </a:rPr>
              <a:t>桑子翔</a:t>
            </a:r>
            <a:r>
              <a:rPr lang="en-US" sz="2000" dirty="0">
                <a:solidFill>
                  <a:srgbClr val="1E1C0D"/>
                </a:solidFill>
                <a:latin typeface="MiSans" pitchFamily="34" charset="-122"/>
                <a:ea typeface="MiSans" pitchFamily="34" charset="-122"/>
                <a:cs typeface="MiSans" pitchFamily="34" charset="-120"/>
              </a:rPr>
              <a:t>；</a:t>
            </a:r>
            <a:endParaRPr lang="en-US" sz="2000" dirty="0">
              <a:solidFill>
                <a:srgbClr val="1E1C0D"/>
              </a:solidFill>
              <a:latin typeface="MiSans" pitchFamily="34" charset="-122"/>
              <a:ea typeface="MiSans" pitchFamily="34" charset="-122"/>
              <a:cs typeface="MiSans" pitchFamily="34" charset="-120"/>
            </a:endParaRPr>
          </a:p>
          <a:p>
            <a:pPr algn="just">
              <a:lnSpc>
                <a:spcPct val="130000"/>
              </a:lnSpc>
            </a:pPr>
            <a:r>
              <a:rPr lang="en-US" sz="2000" dirty="0">
                <a:solidFill>
                  <a:srgbClr val="1E1C0D"/>
                </a:solidFill>
                <a:latin typeface="MiSans" pitchFamily="34" charset="-122"/>
                <a:ea typeface="MiSans" pitchFamily="34" charset="-122"/>
                <a:cs typeface="MiSans" pitchFamily="34" charset="-120"/>
              </a:rPr>
              <a:t>导师：</a:t>
            </a:r>
            <a:r>
              <a:rPr lang="zh-CN" altLang="en-US" sz="2000" dirty="0">
                <a:solidFill>
                  <a:srgbClr val="1E1C0D"/>
                </a:solidFill>
                <a:latin typeface="MiSans" pitchFamily="34" charset="-122"/>
                <a:ea typeface="MiSans" pitchFamily="34" charset="-122"/>
                <a:cs typeface="MiSans" pitchFamily="34" charset="-120"/>
              </a:rPr>
              <a:t>陈蓉</a:t>
            </a:r>
            <a:r>
              <a:rPr lang="en-US" sz="2000" dirty="0">
                <a:solidFill>
                  <a:srgbClr val="1E1C0D"/>
                </a:solidFill>
                <a:latin typeface="MiSans" pitchFamily="34" charset="-122"/>
                <a:ea typeface="MiSans" pitchFamily="34" charset="-122"/>
                <a:cs typeface="MiSans" pitchFamily="34" charset="-120"/>
              </a:rPr>
              <a:t>；</a:t>
            </a:r>
            <a:endParaRPr lang="en-US" sz="2000" dirty="0">
              <a:solidFill>
                <a:srgbClr val="1E1C0D"/>
              </a:solidFill>
              <a:latin typeface="MiSans" pitchFamily="34" charset="-122"/>
              <a:ea typeface="MiSans" pitchFamily="34" charset="-122"/>
              <a:cs typeface="MiSans" pitchFamily="34" charset="-120"/>
            </a:endParaRPr>
          </a:p>
          <a:p>
            <a:pPr algn="just">
              <a:lnSpc>
                <a:spcPct val="130000"/>
              </a:lnSpc>
            </a:pPr>
            <a:r>
              <a:rPr lang="en-US" sz="2000" dirty="0">
                <a:solidFill>
                  <a:srgbClr val="1E1C0D"/>
                </a:solidFill>
                <a:latin typeface="MiSans" pitchFamily="34" charset="-122"/>
                <a:ea typeface="MiSans" pitchFamily="34" charset="-122"/>
                <a:cs typeface="MiSans" pitchFamily="34" charset="-120"/>
              </a:rPr>
              <a:t>所在学院：</a:t>
            </a:r>
            <a:r>
              <a:rPr lang="zh-CN" altLang="en-US" sz="2000" dirty="0">
                <a:solidFill>
                  <a:srgbClr val="1E1C0D"/>
                </a:solidFill>
                <a:latin typeface="MiSans" pitchFamily="34" charset="-122"/>
                <a:ea typeface="MiSans" pitchFamily="34" charset="-122"/>
                <a:cs typeface="MiSans" pitchFamily="34" charset="-120"/>
              </a:rPr>
              <a:t>软件学院；</a:t>
            </a:r>
            <a:endParaRPr lang="zh-CN" altLang="en-US" sz="2000" dirty="0">
              <a:solidFill>
                <a:srgbClr val="1E1C0D"/>
              </a:solidFill>
              <a:latin typeface="MiSans" pitchFamily="34" charset="-122"/>
              <a:ea typeface="MiSans" pitchFamily="34" charset="-122"/>
              <a:cs typeface="MiSans" pitchFamily="34" charset="-120"/>
            </a:endParaRPr>
          </a:p>
          <a:p>
            <a:pPr algn="just">
              <a:lnSpc>
                <a:spcPct val="130000"/>
              </a:lnSpc>
            </a:pPr>
            <a:r>
              <a:rPr lang="en-US" sz="2000" dirty="0">
                <a:solidFill>
                  <a:srgbClr val="1E1C0D"/>
                </a:solidFill>
                <a:latin typeface="MiSans" pitchFamily="34" charset="-122"/>
                <a:ea typeface="MiSans" pitchFamily="34" charset="-122"/>
                <a:cs typeface="MiSans" pitchFamily="34" charset="-120"/>
                <a:sym typeface="+mn-ea"/>
              </a:rPr>
              <a:t>专业</a:t>
            </a:r>
            <a:r>
              <a:rPr lang="zh-CN" altLang="en-US" sz="2000" dirty="0">
                <a:solidFill>
                  <a:srgbClr val="1E1C0D"/>
                </a:solidFill>
                <a:latin typeface="MiSans" pitchFamily="34" charset="-122"/>
                <a:ea typeface="MiSans" pitchFamily="34" charset="-122"/>
                <a:cs typeface="MiSans" pitchFamily="34" charset="-120"/>
                <a:sym typeface="+mn-ea"/>
              </a:rPr>
              <a:t>：</a:t>
            </a:r>
            <a:r>
              <a:rPr lang="zh-CN" altLang="en-US" sz="2000" dirty="0">
                <a:solidFill>
                  <a:srgbClr val="1E1C0D"/>
                </a:solidFill>
                <a:latin typeface="MiSans" pitchFamily="34" charset="-122"/>
                <a:ea typeface="MiSans" pitchFamily="34" charset="-122"/>
                <a:cs typeface="MiSans" pitchFamily="34" charset="-120"/>
              </a:rPr>
              <a:t>软件工程</a:t>
            </a:r>
            <a:r>
              <a:rPr lang="en-US" sz="2000" dirty="0">
                <a:solidFill>
                  <a:srgbClr val="1E1C0D"/>
                </a:solidFill>
                <a:latin typeface="MiSans" pitchFamily="34" charset="-122"/>
                <a:ea typeface="MiSans" pitchFamily="34" charset="-122"/>
                <a:cs typeface="MiSans" pitchFamily="34" charset="-120"/>
              </a:rPr>
              <a:t>；</a:t>
            </a:r>
            <a:endParaRPr lang="en-US" sz="2000" dirty="0">
              <a:solidFill>
                <a:srgbClr val="1E1C0D"/>
              </a:solidFill>
              <a:latin typeface="MiSans" pitchFamily="34" charset="-122"/>
              <a:ea typeface="MiSans" pitchFamily="34" charset="-122"/>
              <a:cs typeface="MiSans" pitchFamily="34" charset="-120"/>
            </a:endParaRPr>
          </a:p>
          <a:p>
            <a:pPr algn="just">
              <a:lnSpc>
                <a:spcPct val="130000"/>
              </a:lnSpc>
            </a:pPr>
            <a:r>
              <a:rPr lang="en-US" sz="2000" dirty="0">
                <a:solidFill>
                  <a:srgbClr val="1E1C0D"/>
                </a:solidFill>
                <a:latin typeface="MiSans" pitchFamily="34" charset="-122"/>
                <a:ea typeface="MiSans" pitchFamily="34" charset="-122"/>
                <a:cs typeface="MiSans" pitchFamily="34" charset="-120"/>
              </a:rPr>
              <a:t>日期：2025.11.20</a:t>
            </a:r>
            <a:r>
              <a:rPr lang="zh-CN" altLang="en-US" sz="2000" dirty="0">
                <a:solidFill>
                  <a:srgbClr val="1E1C0D"/>
                </a:solidFill>
                <a:latin typeface="MiSans" pitchFamily="34" charset="-122"/>
                <a:ea typeface="MiSans" pitchFamily="34" charset="-122"/>
                <a:cs typeface="MiSans" pitchFamily="34" charset="-120"/>
              </a:rPr>
              <a:t>；</a:t>
            </a:r>
            <a:endParaRPr lang="zh-CN" altLang="en-US" sz="2000" dirty="0">
              <a:solidFill>
                <a:srgbClr val="1E1C0D"/>
              </a:solidFill>
              <a:latin typeface="MiSans" pitchFamily="34" charset="-122"/>
              <a:ea typeface="MiSans" pitchFamily="34" charset="-122"/>
              <a:cs typeface="MiSans" pitchFamily="34" charset="-120"/>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1727190" y="6306820"/>
            <a:ext cx="10080000" cy="0"/>
          </a:xfrm>
          <a:prstGeom prst="line">
            <a:avLst/>
          </a:prstGeom>
          <a:noFill/>
          <a:ln w="19050">
            <a:solidFill>
              <a:srgbClr val="402E7F"/>
            </a:solidFill>
            <a:prstDash val="solid"/>
            <a:headEnd type="none"/>
            <a:tailEnd type="none"/>
          </a:ln>
        </p:spPr>
      </p:sp>
      <p:sp>
        <p:nvSpPr>
          <p:cNvPr id="5" name="Shape 3"/>
          <p:cNvSpPr/>
          <p:nvPr/>
        </p:nvSpPr>
        <p:spPr>
          <a:xfrm>
            <a:off x="852805" y="6177280"/>
            <a:ext cx="259080" cy="259080"/>
          </a:xfrm>
          <a:prstGeom prst="ellipse">
            <a:avLst/>
          </a:prstGeom>
          <a:solidFill>
            <a:srgbClr val="402E7F"/>
          </a:solidFill>
        </p:spPr>
      </p:sp>
      <p:sp>
        <p:nvSpPr>
          <p:cNvPr id="6" name="Text 4"/>
          <p:cNvSpPr/>
          <p:nvPr/>
        </p:nvSpPr>
        <p:spPr>
          <a:xfrm>
            <a:off x="852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7" name="Shape 5"/>
          <p:cNvSpPr/>
          <p:nvPr/>
        </p:nvSpPr>
        <p:spPr>
          <a:xfrm>
            <a:off x="979805" y="6177280"/>
            <a:ext cx="259080" cy="259080"/>
          </a:xfrm>
          <a:prstGeom prst="ellipse">
            <a:avLst/>
          </a:prstGeom>
          <a:solidFill>
            <a:srgbClr val="000000">
              <a:alpha val="0"/>
            </a:srgbClr>
          </a:solidFill>
          <a:ln w="19050">
            <a:solidFill>
              <a:srgbClr val="402E7F"/>
            </a:solidFill>
            <a:prstDash val="solid"/>
          </a:ln>
        </p:spPr>
      </p:sp>
      <p:sp>
        <p:nvSpPr>
          <p:cNvPr id="8" name="Text 6"/>
          <p:cNvSpPr/>
          <p:nvPr/>
        </p:nvSpPr>
        <p:spPr>
          <a:xfrm>
            <a:off x="979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9" name="Shape 7"/>
          <p:cNvSpPr/>
          <p:nvPr/>
        </p:nvSpPr>
        <p:spPr>
          <a:xfrm>
            <a:off x="4445" y="0"/>
            <a:ext cx="4918075" cy="6859905"/>
          </a:xfrm>
          <a:prstGeom prst="rect">
            <a:avLst/>
          </a:prstGeom>
          <a:gradFill flip="none" rotWithShape="1">
            <a:gsLst>
              <a:gs pos="0">
                <a:srgbClr val="D7B1D4"/>
              </a:gs>
              <a:gs pos="34000">
                <a:srgbClr val="BC7DB7"/>
              </a:gs>
              <a:gs pos="100000">
                <a:srgbClr val="30225F"/>
              </a:gs>
            </a:gsLst>
            <a:lin ang="13500000" scaled="1"/>
          </a:gradFill>
        </p:spPr>
      </p:sp>
      <p:sp>
        <p:nvSpPr>
          <p:cNvPr id="10" name="Text 8"/>
          <p:cNvSpPr/>
          <p:nvPr/>
        </p:nvSpPr>
        <p:spPr>
          <a:xfrm>
            <a:off x="4445" y="0"/>
            <a:ext cx="4918075" cy="6859905"/>
          </a:xfrm>
          <a:prstGeom prst="rect">
            <a:avLst/>
          </a:prstGeom>
          <a:noFill/>
        </p:spPr>
        <p:txBody>
          <a:bodyPr wrap="square" lIns="45720" tIns="91440" rIns="91440" bIns="45720" rtlCol="0" anchor="ctr"/>
          <a:lstStyle/>
          <a:p>
            <a:pPr>
              <a:lnSpc>
                <a:spcPct val="100000"/>
              </a:lnSpc>
            </a:pPr>
            <a:endParaRPr lang="en-US" sz="1600" dirty="0"/>
          </a:p>
        </p:txBody>
      </p:sp>
      <p:sp>
        <p:nvSpPr>
          <p:cNvPr id="11" name="Shape 9"/>
          <p:cNvSpPr/>
          <p:nvPr/>
        </p:nvSpPr>
        <p:spPr>
          <a:xfrm>
            <a:off x="697230" y="469900"/>
            <a:ext cx="106680" cy="106680"/>
          </a:xfrm>
          <a:prstGeom prst="ellipse">
            <a:avLst/>
          </a:prstGeom>
          <a:solidFill>
            <a:srgbClr val="FFFFFF"/>
          </a:solidFill>
        </p:spPr>
      </p:sp>
      <p:sp>
        <p:nvSpPr>
          <p:cNvPr id="12" name="Text 10"/>
          <p:cNvSpPr/>
          <p:nvPr/>
        </p:nvSpPr>
        <p:spPr>
          <a:xfrm>
            <a:off x="69723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3" name="Shape 11"/>
          <p:cNvSpPr/>
          <p:nvPr/>
        </p:nvSpPr>
        <p:spPr>
          <a:xfrm>
            <a:off x="981075" y="469900"/>
            <a:ext cx="106680" cy="106680"/>
          </a:xfrm>
          <a:prstGeom prst="ellipse">
            <a:avLst/>
          </a:prstGeom>
          <a:solidFill>
            <a:srgbClr val="000000">
              <a:alpha val="0"/>
            </a:srgbClr>
          </a:solidFill>
          <a:ln w="19050">
            <a:solidFill>
              <a:srgbClr val="FFFFFF"/>
            </a:solidFill>
            <a:prstDash val="solid"/>
          </a:ln>
        </p:spPr>
      </p:sp>
      <p:sp>
        <p:nvSpPr>
          <p:cNvPr id="14" name="Text 12"/>
          <p:cNvSpPr/>
          <p:nvPr/>
        </p:nvSpPr>
        <p:spPr>
          <a:xfrm>
            <a:off x="98107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5" name="Shape 13"/>
          <p:cNvSpPr/>
          <p:nvPr/>
        </p:nvSpPr>
        <p:spPr>
          <a:xfrm>
            <a:off x="1264920" y="469900"/>
            <a:ext cx="106680" cy="106680"/>
          </a:xfrm>
          <a:prstGeom prst="ellipse">
            <a:avLst/>
          </a:prstGeom>
          <a:solidFill>
            <a:srgbClr val="FFFFFF"/>
          </a:solidFill>
        </p:spPr>
      </p:sp>
      <p:sp>
        <p:nvSpPr>
          <p:cNvPr id="16" name="Text 14"/>
          <p:cNvSpPr/>
          <p:nvPr/>
        </p:nvSpPr>
        <p:spPr>
          <a:xfrm>
            <a:off x="126492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7" name="Shape 15"/>
          <p:cNvSpPr/>
          <p:nvPr/>
        </p:nvSpPr>
        <p:spPr>
          <a:xfrm>
            <a:off x="1548765" y="469900"/>
            <a:ext cx="106680" cy="106680"/>
          </a:xfrm>
          <a:prstGeom prst="ellipse">
            <a:avLst/>
          </a:prstGeom>
          <a:solidFill>
            <a:srgbClr val="000000">
              <a:alpha val="0"/>
            </a:srgbClr>
          </a:solidFill>
          <a:ln w="19050">
            <a:solidFill>
              <a:srgbClr val="FFFFFF"/>
            </a:solidFill>
            <a:prstDash val="solid"/>
          </a:ln>
        </p:spPr>
      </p:sp>
      <p:sp>
        <p:nvSpPr>
          <p:cNvPr id="18" name="Text 16"/>
          <p:cNvSpPr/>
          <p:nvPr/>
        </p:nvSpPr>
        <p:spPr>
          <a:xfrm>
            <a:off x="154876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9" name="Shape 17"/>
          <p:cNvSpPr/>
          <p:nvPr/>
        </p:nvSpPr>
        <p:spPr>
          <a:xfrm>
            <a:off x="1832610" y="469900"/>
            <a:ext cx="106680" cy="106680"/>
          </a:xfrm>
          <a:prstGeom prst="ellipse">
            <a:avLst/>
          </a:prstGeom>
          <a:solidFill>
            <a:srgbClr val="FFFFFF"/>
          </a:solidFill>
        </p:spPr>
      </p:sp>
      <p:sp>
        <p:nvSpPr>
          <p:cNvPr id="20" name="Text 18"/>
          <p:cNvSpPr/>
          <p:nvPr/>
        </p:nvSpPr>
        <p:spPr>
          <a:xfrm>
            <a:off x="183261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21" name="Shape 19"/>
          <p:cNvSpPr/>
          <p:nvPr/>
        </p:nvSpPr>
        <p:spPr>
          <a:xfrm>
            <a:off x="2116455" y="469900"/>
            <a:ext cx="106680" cy="106680"/>
          </a:xfrm>
          <a:prstGeom prst="ellipse">
            <a:avLst/>
          </a:prstGeom>
          <a:solidFill>
            <a:srgbClr val="000000">
              <a:alpha val="0"/>
            </a:srgbClr>
          </a:solidFill>
          <a:ln w="19050">
            <a:solidFill>
              <a:srgbClr val="FFFFFF"/>
            </a:solidFill>
            <a:prstDash val="solid"/>
          </a:ln>
        </p:spPr>
      </p:sp>
      <p:sp>
        <p:nvSpPr>
          <p:cNvPr id="22" name="Text 20"/>
          <p:cNvSpPr/>
          <p:nvPr/>
        </p:nvSpPr>
        <p:spPr>
          <a:xfrm>
            <a:off x="211645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23" name="Shape 21"/>
          <p:cNvSpPr/>
          <p:nvPr/>
        </p:nvSpPr>
        <p:spPr>
          <a:xfrm>
            <a:off x="11456035" y="381635"/>
            <a:ext cx="351155" cy="43815"/>
          </a:xfrm>
          <a:prstGeom prst="roundRect">
            <a:avLst>
              <a:gd name="adj" fmla="val 50000"/>
            </a:avLst>
          </a:prstGeom>
          <a:solidFill>
            <a:srgbClr val="402E7F"/>
          </a:solidFill>
        </p:spPr>
      </p:sp>
      <p:sp>
        <p:nvSpPr>
          <p:cNvPr id="24" name="Text 22"/>
          <p:cNvSpPr/>
          <p:nvPr/>
        </p:nvSpPr>
        <p:spPr>
          <a:xfrm>
            <a:off x="11456035" y="38163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5" name="Shape 23"/>
          <p:cNvSpPr/>
          <p:nvPr/>
        </p:nvSpPr>
        <p:spPr>
          <a:xfrm>
            <a:off x="11456035" y="501650"/>
            <a:ext cx="351155" cy="43815"/>
          </a:xfrm>
          <a:prstGeom prst="roundRect">
            <a:avLst>
              <a:gd name="adj" fmla="val 50000"/>
            </a:avLst>
          </a:prstGeom>
          <a:solidFill>
            <a:srgbClr val="402E7F"/>
          </a:solidFill>
        </p:spPr>
      </p:sp>
      <p:sp>
        <p:nvSpPr>
          <p:cNvPr id="26" name="Text 24"/>
          <p:cNvSpPr/>
          <p:nvPr/>
        </p:nvSpPr>
        <p:spPr>
          <a:xfrm>
            <a:off x="11456035" y="501650"/>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7" name="Shape 25"/>
          <p:cNvSpPr/>
          <p:nvPr/>
        </p:nvSpPr>
        <p:spPr>
          <a:xfrm>
            <a:off x="11456035" y="621665"/>
            <a:ext cx="351155" cy="43815"/>
          </a:xfrm>
          <a:prstGeom prst="roundRect">
            <a:avLst>
              <a:gd name="adj" fmla="val 50000"/>
            </a:avLst>
          </a:prstGeom>
          <a:solidFill>
            <a:srgbClr val="402E7F"/>
          </a:solidFill>
        </p:spPr>
      </p:sp>
      <p:sp>
        <p:nvSpPr>
          <p:cNvPr id="28" name="Text 26"/>
          <p:cNvSpPr/>
          <p:nvPr/>
        </p:nvSpPr>
        <p:spPr>
          <a:xfrm>
            <a:off x="11456035" y="62166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9" name="Shape 27"/>
          <p:cNvSpPr/>
          <p:nvPr>
            <p:custDataLst>
              <p:tags r:id="rId1"/>
            </p:custDataLst>
          </p:nvPr>
        </p:nvSpPr>
        <p:spPr>
          <a:xfrm>
            <a:off x="5467350" y="861060"/>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p:spPr>
      </p:sp>
      <p:sp>
        <p:nvSpPr>
          <p:cNvPr id="30" name="Text 28"/>
          <p:cNvSpPr/>
          <p:nvPr/>
        </p:nvSpPr>
        <p:spPr>
          <a:xfrm>
            <a:off x="5467350" y="861060"/>
            <a:ext cx="381000" cy="381000"/>
          </a:xfrm>
          <a:prstGeom prst="rect">
            <a:avLst/>
          </a:prstGeom>
          <a:noFill/>
        </p:spPr>
        <p:txBody>
          <a:bodyPr wrap="square" lIns="45720" tIns="91440" rIns="91440" bIns="45720" rtlCol="0" anchor="ctr"/>
          <a:lstStyle/>
          <a:p>
            <a:pPr>
              <a:lnSpc>
                <a:spcPct val="100000"/>
              </a:lnSpc>
            </a:pPr>
            <a:endParaRPr lang="en-US" sz="1600" dirty="0"/>
          </a:p>
        </p:txBody>
      </p:sp>
      <p:sp>
        <p:nvSpPr>
          <p:cNvPr id="31" name="Shape 29"/>
          <p:cNvSpPr/>
          <p:nvPr>
            <p:custDataLst>
              <p:tags r:id="rId2"/>
            </p:custDataLst>
          </p:nvPr>
        </p:nvSpPr>
        <p:spPr>
          <a:xfrm>
            <a:off x="5467350" y="1710055"/>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p:spPr>
      </p:sp>
      <p:sp>
        <p:nvSpPr>
          <p:cNvPr id="32" name="Text 30"/>
          <p:cNvSpPr/>
          <p:nvPr/>
        </p:nvSpPr>
        <p:spPr>
          <a:xfrm>
            <a:off x="5467350" y="1710055"/>
            <a:ext cx="381000" cy="381000"/>
          </a:xfrm>
          <a:prstGeom prst="rect">
            <a:avLst/>
          </a:prstGeom>
          <a:noFill/>
        </p:spPr>
        <p:txBody>
          <a:bodyPr wrap="square" lIns="45720" tIns="91440" rIns="91440" bIns="45720" rtlCol="0" anchor="ctr"/>
          <a:lstStyle/>
          <a:p>
            <a:pPr>
              <a:lnSpc>
                <a:spcPct val="100000"/>
              </a:lnSpc>
            </a:pPr>
            <a:endParaRPr lang="en-US" sz="1600" dirty="0"/>
          </a:p>
        </p:txBody>
      </p:sp>
      <p:sp>
        <p:nvSpPr>
          <p:cNvPr id="33" name="Shape 31"/>
          <p:cNvSpPr/>
          <p:nvPr>
            <p:custDataLst>
              <p:tags r:id="rId3"/>
            </p:custDataLst>
          </p:nvPr>
        </p:nvSpPr>
        <p:spPr>
          <a:xfrm>
            <a:off x="5467350" y="2559050"/>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p:spPr>
      </p:sp>
      <p:sp>
        <p:nvSpPr>
          <p:cNvPr id="34" name="Text 32"/>
          <p:cNvSpPr/>
          <p:nvPr/>
        </p:nvSpPr>
        <p:spPr>
          <a:xfrm>
            <a:off x="5467350" y="2559050"/>
            <a:ext cx="381000" cy="381000"/>
          </a:xfrm>
          <a:prstGeom prst="rect">
            <a:avLst/>
          </a:prstGeom>
          <a:noFill/>
        </p:spPr>
        <p:txBody>
          <a:bodyPr wrap="square" lIns="45720" tIns="91440" rIns="91440" bIns="45720" rtlCol="0" anchor="ctr"/>
          <a:lstStyle/>
          <a:p>
            <a:pPr>
              <a:lnSpc>
                <a:spcPct val="100000"/>
              </a:lnSpc>
            </a:pPr>
            <a:endParaRPr lang="en-US" sz="1600" dirty="0"/>
          </a:p>
        </p:txBody>
      </p:sp>
      <p:sp>
        <p:nvSpPr>
          <p:cNvPr id="35" name="Shape 33"/>
          <p:cNvSpPr/>
          <p:nvPr>
            <p:custDataLst>
              <p:tags r:id="rId4"/>
            </p:custDataLst>
          </p:nvPr>
        </p:nvSpPr>
        <p:spPr>
          <a:xfrm>
            <a:off x="5467350" y="3408045"/>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p:spPr>
      </p:sp>
      <p:sp>
        <p:nvSpPr>
          <p:cNvPr id="36" name="Text 34"/>
          <p:cNvSpPr/>
          <p:nvPr/>
        </p:nvSpPr>
        <p:spPr>
          <a:xfrm>
            <a:off x="5467350" y="3408045"/>
            <a:ext cx="381000" cy="381000"/>
          </a:xfrm>
          <a:prstGeom prst="rect">
            <a:avLst/>
          </a:prstGeom>
          <a:noFill/>
        </p:spPr>
        <p:txBody>
          <a:bodyPr wrap="square" lIns="45720" tIns="91440" rIns="91440" bIns="45720" rtlCol="0" anchor="ctr"/>
          <a:lstStyle/>
          <a:p>
            <a:pPr>
              <a:lnSpc>
                <a:spcPct val="100000"/>
              </a:lnSpc>
            </a:pPr>
            <a:endParaRPr lang="en-US" sz="1600" dirty="0"/>
          </a:p>
        </p:txBody>
      </p:sp>
      <p:sp>
        <p:nvSpPr>
          <p:cNvPr id="37" name="Shape 35"/>
          <p:cNvSpPr/>
          <p:nvPr>
            <p:custDataLst>
              <p:tags r:id="rId5"/>
            </p:custDataLst>
          </p:nvPr>
        </p:nvSpPr>
        <p:spPr>
          <a:xfrm>
            <a:off x="5467350" y="4257040"/>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p:spPr>
      </p:sp>
      <p:sp>
        <p:nvSpPr>
          <p:cNvPr id="38" name="Text 36"/>
          <p:cNvSpPr/>
          <p:nvPr/>
        </p:nvSpPr>
        <p:spPr>
          <a:xfrm>
            <a:off x="5467350" y="4257040"/>
            <a:ext cx="381000" cy="381000"/>
          </a:xfrm>
          <a:prstGeom prst="rect">
            <a:avLst/>
          </a:prstGeom>
          <a:noFill/>
        </p:spPr>
        <p:txBody>
          <a:bodyPr wrap="square" lIns="45720" tIns="91440" rIns="91440" bIns="45720" rtlCol="0" anchor="ctr"/>
          <a:lstStyle/>
          <a:p>
            <a:pPr>
              <a:lnSpc>
                <a:spcPct val="100000"/>
              </a:lnSpc>
            </a:pPr>
            <a:endParaRPr lang="en-US" sz="1600" dirty="0"/>
          </a:p>
        </p:txBody>
      </p:sp>
      <p:sp>
        <p:nvSpPr>
          <p:cNvPr id="39" name="Shape 37"/>
          <p:cNvSpPr/>
          <p:nvPr>
            <p:custDataLst>
              <p:tags r:id="rId6"/>
            </p:custDataLst>
          </p:nvPr>
        </p:nvSpPr>
        <p:spPr>
          <a:xfrm>
            <a:off x="5467350" y="5106035"/>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p:spPr>
      </p:sp>
      <p:sp>
        <p:nvSpPr>
          <p:cNvPr id="40" name="Text 38"/>
          <p:cNvSpPr/>
          <p:nvPr/>
        </p:nvSpPr>
        <p:spPr>
          <a:xfrm>
            <a:off x="5467350" y="5106035"/>
            <a:ext cx="381000" cy="381000"/>
          </a:xfrm>
          <a:prstGeom prst="rect">
            <a:avLst/>
          </a:prstGeom>
          <a:noFill/>
        </p:spPr>
        <p:txBody>
          <a:bodyPr wrap="square" lIns="45720" tIns="91440" rIns="91440" bIns="45720" rtlCol="0" anchor="ctr"/>
          <a:lstStyle/>
          <a:p>
            <a:pPr>
              <a:lnSpc>
                <a:spcPct val="100000"/>
              </a:lnSpc>
            </a:pPr>
            <a:endParaRPr lang="en-US" sz="1600" dirty="0"/>
          </a:p>
        </p:txBody>
      </p:sp>
      <p:pic>
        <p:nvPicPr>
          <p:cNvPr id="41" name="Image 0" descr="https://test-kimi-img.moonshot.cn/pub/slides/slides_tmpl/image/25-08-11-17:38:54-d2crkbn0ctitcgma2i5g.png"/>
          <p:cNvPicPr>
            <a:picLocks noChangeAspect="1"/>
          </p:cNvPicPr>
          <p:nvPr/>
        </p:nvPicPr>
        <p:blipFill>
          <a:blip r:embed="rId7"/>
          <a:srcRect t="8" b="8"/>
          <a:stretch>
            <a:fillRect/>
          </a:stretch>
        </p:blipFill>
        <p:spPr>
          <a:xfrm>
            <a:off x="697230" y="1141095"/>
            <a:ext cx="3901440" cy="2872105"/>
          </a:xfrm>
          <a:prstGeom prst="rect">
            <a:avLst/>
          </a:prstGeom>
        </p:spPr>
      </p:pic>
      <p:sp>
        <p:nvSpPr>
          <p:cNvPr id="42" name="Text 39"/>
          <p:cNvSpPr/>
          <p:nvPr/>
        </p:nvSpPr>
        <p:spPr>
          <a:xfrm>
            <a:off x="577215" y="4257040"/>
            <a:ext cx="4064000" cy="837009"/>
          </a:xfrm>
          <a:prstGeom prst="rect">
            <a:avLst/>
          </a:prstGeom>
          <a:noFill/>
        </p:spPr>
        <p:txBody>
          <a:bodyPr wrap="square" lIns="91440" tIns="45720" rIns="91440" bIns="45720" rtlCol="0" anchor="t">
            <a:spAutoFit/>
          </a:bodyPr>
          <a:lstStyle/>
          <a:p>
            <a:pPr>
              <a:lnSpc>
                <a:spcPct val="100000"/>
              </a:lnSpc>
            </a:pPr>
            <a:r>
              <a:rPr lang="en-US" sz="5400" dirty="0">
                <a:solidFill>
                  <a:srgbClr val="D9D9D9"/>
                </a:solidFill>
                <a:latin typeface="MiSans" pitchFamily="34" charset="-122"/>
                <a:ea typeface="MiSans" pitchFamily="34" charset="-122"/>
                <a:cs typeface="MiSans" pitchFamily="34" charset="-120"/>
              </a:rPr>
              <a:t>CONTENTS</a:t>
            </a:r>
            <a:endParaRPr lang="en-US" sz="1600" dirty="0"/>
          </a:p>
        </p:txBody>
      </p:sp>
      <p:sp>
        <p:nvSpPr>
          <p:cNvPr id="43" name="Text 40"/>
          <p:cNvSpPr/>
          <p:nvPr>
            <p:custDataLst>
              <p:tags r:id="rId8"/>
            </p:custDataLst>
          </p:nvPr>
        </p:nvSpPr>
        <p:spPr>
          <a:xfrm>
            <a:off x="5549900" y="949960"/>
            <a:ext cx="772795" cy="507365"/>
          </a:xfrm>
          <a:prstGeom prst="rect">
            <a:avLst/>
          </a:prstGeom>
          <a:noFill/>
        </p:spPr>
        <p:txBody>
          <a:bodyPr wrap="square" lIns="91440" tIns="45720" rIns="91440" bIns="45720" rtlCol="0" anchor="t"/>
          <a:lstStyle/>
          <a:p>
            <a:pPr algn="ctr">
              <a:lnSpc>
                <a:spcPct val="100000"/>
              </a:lnSpc>
            </a:pPr>
            <a:r>
              <a:rPr lang="en-US" sz="3200" b="1" dirty="0">
                <a:solidFill>
                  <a:srgbClr val="1E1C0D"/>
                </a:solidFill>
                <a:latin typeface="MiSans" pitchFamily="34" charset="-122"/>
                <a:ea typeface="MiSans" pitchFamily="34" charset="-122"/>
                <a:cs typeface="MiSans" pitchFamily="34" charset="-120"/>
              </a:rPr>
              <a:t>01</a:t>
            </a:r>
            <a:endParaRPr lang="en-US" sz="1600" dirty="0"/>
          </a:p>
        </p:txBody>
      </p:sp>
      <p:sp>
        <p:nvSpPr>
          <p:cNvPr id="44" name="Text 41"/>
          <p:cNvSpPr/>
          <p:nvPr>
            <p:custDataLst>
              <p:tags r:id="rId9"/>
            </p:custDataLst>
          </p:nvPr>
        </p:nvSpPr>
        <p:spPr>
          <a:xfrm>
            <a:off x="6342380" y="1005840"/>
            <a:ext cx="4887595"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3E3A1C"/>
                </a:solidFill>
                <a:latin typeface="MiSans" pitchFamily="34" charset="-122"/>
                <a:ea typeface="MiSans" pitchFamily="34" charset="-122"/>
                <a:cs typeface="MiSans" pitchFamily="34" charset="-120"/>
              </a:rPr>
              <a:t>选题背景与意义</a:t>
            </a:r>
            <a:endParaRPr lang="en-US" sz="1600" dirty="0"/>
          </a:p>
        </p:txBody>
      </p:sp>
      <p:sp>
        <p:nvSpPr>
          <p:cNvPr id="45" name="Text 42"/>
          <p:cNvSpPr/>
          <p:nvPr>
            <p:custDataLst>
              <p:tags r:id="rId10"/>
            </p:custDataLst>
          </p:nvPr>
        </p:nvSpPr>
        <p:spPr>
          <a:xfrm>
            <a:off x="5549900" y="1798955"/>
            <a:ext cx="772795" cy="507365"/>
          </a:xfrm>
          <a:prstGeom prst="rect">
            <a:avLst/>
          </a:prstGeom>
          <a:noFill/>
        </p:spPr>
        <p:txBody>
          <a:bodyPr wrap="square" lIns="91440" tIns="45720" rIns="91440" bIns="45720" rtlCol="0" anchor="t"/>
          <a:lstStyle/>
          <a:p>
            <a:pPr algn="ctr">
              <a:lnSpc>
                <a:spcPct val="100000"/>
              </a:lnSpc>
            </a:pPr>
            <a:r>
              <a:rPr lang="en-US" sz="3200" b="1" dirty="0">
                <a:solidFill>
                  <a:srgbClr val="1E1C0D"/>
                </a:solidFill>
                <a:latin typeface="MiSans" pitchFamily="34" charset="-122"/>
                <a:ea typeface="MiSans" pitchFamily="34" charset="-122"/>
                <a:cs typeface="MiSans" pitchFamily="34" charset="-120"/>
              </a:rPr>
              <a:t>02</a:t>
            </a:r>
            <a:endParaRPr lang="en-US" sz="1600" dirty="0"/>
          </a:p>
        </p:txBody>
      </p:sp>
      <p:sp>
        <p:nvSpPr>
          <p:cNvPr id="46" name="Text 43"/>
          <p:cNvSpPr/>
          <p:nvPr>
            <p:custDataLst>
              <p:tags r:id="rId11"/>
            </p:custDataLst>
          </p:nvPr>
        </p:nvSpPr>
        <p:spPr>
          <a:xfrm>
            <a:off x="6342380" y="1854835"/>
            <a:ext cx="4887595"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3E3A1C"/>
                </a:solidFill>
                <a:latin typeface="MiSans" pitchFamily="34" charset="-122"/>
                <a:ea typeface="MiSans" pitchFamily="34" charset="-122"/>
                <a:cs typeface="MiSans" pitchFamily="34" charset="-120"/>
              </a:rPr>
              <a:t>国内外研究现状</a:t>
            </a:r>
            <a:endParaRPr lang="en-US" sz="1600" dirty="0"/>
          </a:p>
        </p:txBody>
      </p:sp>
      <p:sp>
        <p:nvSpPr>
          <p:cNvPr id="47" name="Text 44"/>
          <p:cNvSpPr/>
          <p:nvPr>
            <p:custDataLst>
              <p:tags r:id="rId12"/>
            </p:custDataLst>
          </p:nvPr>
        </p:nvSpPr>
        <p:spPr>
          <a:xfrm>
            <a:off x="5549900" y="2647950"/>
            <a:ext cx="772795" cy="507365"/>
          </a:xfrm>
          <a:prstGeom prst="rect">
            <a:avLst/>
          </a:prstGeom>
          <a:noFill/>
        </p:spPr>
        <p:txBody>
          <a:bodyPr wrap="square" lIns="91440" tIns="45720" rIns="91440" bIns="45720" rtlCol="0" anchor="t"/>
          <a:lstStyle/>
          <a:p>
            <a:pPr algn="ctr">
              <a:lnSpc>
                <a:spcPct val="100000"/>
              </a:lnSpc>
            </a:pPr>
            <a:r>
              <a:rPr lang="en-US" sz="3200" b="1" dirty="0">
                <a:solidFill>
                  <a:srgbClr val="1E1C0D"/>
                </a:solidFill>
                <a:latin typeface="MiSans" pitchFamily="34" charset="-122"/>
                <a:ea typeface="MiSans" pitchFamily="34" charset="-122"/>
                <a:cs typeface="MiSans" pitchFamily="34" charset="-120"/>
              </a:rPr>
              <a:t>03</a:t>
            </a:r>
            <a:endParaRPr lang="en-US" sz="1600" dirty="0"/>
          </a:p>
        </p:txBody>
      </p:sp>
      <p:sp>
        <p:nvSpPr>
          <p:cNvPr id="48" name="Text 45"/>
          <p:cNvSpPr/>
          <p:nvPr>
            <p:custDataLst>
              <p:tags r:id="rId13"/>
            </p:custDataLst>
          </p:nvPr>
        </p:nvSpPr>
        <p:spPr>
          <a:xfrm>
            <a:off x="6342380" y="2703830"/>
            <a:ext cx="4887595"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3E3A1C"/>
                </a:solidFill>
                <a:latin typeface="MiSans" pitchFamily="34" charset="-122"/>
                <a:ea typeface="MiSans" pitchFamily="34" charset="-122"/>
                <a:cs typeface="MiSans" pitchFamily="34" charset="-120"/>
              </a:rPr>
              <a:t>主要研究内容</a:t>
            </a:r>
            <a:endParaRPr lang="en-US" sz="1600" dirty="0"/>
          </a:p>
        </p:txBody>
      </p:sp>
      <p:sp>
        <p:nvSpPr>
          <p:cNvPr id="49" name="Text 46"/>
          <p:cNvSpPr/>
          <p:nvPr>
            <p:custDataLst>
              <p:tags r:id="rId14"/>
            </p:custDataLst>
          </p:nvPr>
        </p:nvSpPr>
        <p:spPr>
          <a:xfrm>
            <a:off x="5549900" y="3496945"/>
            <a:ext cx="772795" cy="507365"/>
          </a:xfrm>
          <a:prstGeom prst="rect">
            <a:avLst/>
          </a:prstGeom>
          <a:noFill/>
        </p:spPr>
        <p:txBody>
          <a:bodyPr wrap="square" lIns="91440" tIns="45720" rIns="91440" bIns="45720" rtlCol="0" anchor="t"/>
          <a:lstStyle/>
          <a:p>
            <a:pPr algn="ctr">
              <a:lnSpc>
                <a:spcPct val="100000"/>
              </a:lnSpc>
            </a:pPr>
            <a:r>
              <a:rPr lang="en-US" sz="3200" b="1" dirty="0">
                <a:solidFill>
                  <a:srgbClr val="1E1C0D"/>
                </a:solidFill>
                <a:latin typeface="MiSans" pitchFamily="34" charset="-122"/>
                <a:ea typeface="MiSans" pitchFamily="34" charset="-122"/>
                <a:cs typeface="MiSans" pitchFamily="34" charset="-120"/>
              </a:rPr>
              <a:t>04</a:t>
            </a:r>
            <a:endParaRPr lang="en-US" sz="1600" dirty="0"/>
          </a:p>
        </p:txBody>
      </p:sp>
      <p:sp>
        <p:nvSpPr>
          <p:cNvPr id="50" name="Text 47"/>
          <p:cNvSpPr/>
          <p:nvPr>
            <p:custDataLst>
              <p:tags r:id="rId15"/>
            </p:custDataLst>
          </p:nvPr>
        </p:nvSpPr>
        <p:spPr>
          <a:xfrm>
            <a:off x="6342380" y="3552825"/>
            <a:ext cx="4887595"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3E3A1C"/>
                </a:solidFill>
                <a:latin typeface="MiSans" pitchFamily="34" charset="-122"/>
                <a:ea typeface="MiSans" pitchFamily="34" charset="-122"/>
                <a:cs typeface="MiSans" pitchFamily="34" charset="-120"/>
              </a:rPr>
              <a:t>研究思路与技术路线</a:t>
            </a:r>
            <a:endParaRPr lang="en-US" sz="1600" dirty="0"/>
          </a:p>
        </p:txBody>
      </p:sp>
      <p:sp>
        <p:nvSpPr>
          <p:cNvPr id="51" name="Text 48"/>
          <p:cNvSpPr/>
          <p:nvPr>
            <p:custDataLst>
              <p:tags r:id="rId16"/>
            </p:custDataLst>
          </p:nvPr>
        </p:nvSpPr>
        <p:spPr>
          <a:xfrm>
            <a:off x="5549900" y="4345940"/>
            <a:ext cx="772795" cy="507365"/>
          </a:xfrm>
          <a:prstGeom prst="rect">
            <a:avLst/>
          </a:prstGeom>
          <a:noFill/>
        </p:spPr>
        <p:txBody>
          <a:bodyPr wrap="square" lIns="91440" tIns="45720" rIns="91440" bIns="45720" rtlCol="0" anchor="t"/>
          <a:lstStyle/>
          <a:p>
            <a:pPr algn="ctr">
              <a:lnSpc>
                <a:spcPct val="100000"/>
              </a:lnSpc>
            </a:pPr>
            <a:r>
              <a:rPr lang="en-US" sz="3200" b="1" dirty="0">
                <a:solidFill>
                  <a:srgbClr val="1E1C0D"/>
                </a:solidFill>
                <a:latin typeface="MiSans" pitchFamily="34" charset="-122"/>
                <a:ea typeface="MiSans" pitchFamily="34" charset="-122"/>
                <a:cs typeface="MiSans" pitchFamily="34" charset="-120"/>
              </a:rPr>
              <a:t>05</a:t>
            </a:r>
            <a:endParaRPr lang="en-US" sz="1600" dirty="0"/>
          </a:p>
        </p:txBody>
      </p:sp>
      <p:sp>
        <p:nvSpPr>
          <p:cNvPr id="52" name="Text 49"/>
          <p:cNvSpPr/>
          <p:nvPr>
            <p:custDataLst>
              <p:tags r:id="rId17"/>
            </p:custDataLst>
          </p:nvPr>
        </p:nvSpPr>
        <p:spPr>
          <a:xfrm>
            <a:off x="6342380" y="4401820"/>
            <a:ext cx="4887595"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3E3A1C"/>
                </a:solidFill>
                <a:latin typeface="MiSans" pitchFamily="34" charset="-122"/>
                <a:ea typeface="MiSans" pitchFamily="34" charset="-122"/>
                <a:cs typeface="MiSans" pitchFamily="34" charset="-120"/>
              </a:rPr>
              <a:t>工作安排与进度</a:t>
            </a:r>
            <a:endParaRPr lang="en-US" sz="1600" dirty="0"/>
          </a:p>
        </p:txBody>
      </p:sp>
      <p:sp>
        <p:nvSpPr>
          <p:cNvPr id="53" name="Text 50"/>
          <p:cNvSpPr/>
          <p:nvPr>
            <p:custDataLst>
              <p:tags r:id="rId18"/>
            </p:custDataLst>
          </p:nvPr>
        </p:nvSpPr>
        <p:spPr>
          <a:xfrm>
            <a:off x="5549900" y="5194935"/>
            <a:ext cx="772795" cy="507365"/>
          </a:xfrm>
          <a:prstGeom prst="rect">
            <a:avLst/>
          </a:prstGeom>
          <a:noFill/>
        </p:spPr>
        <p:txBody>
          <a:bodyPr wrap="square" lIns="91440" tIns="45720" rIns="91440" bIns="45720" rtlCol="0" anchor="t"/>
          <a:lstStyle/>
          <a:p>
            <a:pPr algn="ctr">
              <a:lnSpc>
                <a:spcPct val="100000"/>
              </a:lnSpc>
            </a:pPr>
            <a:r>
              <a:rPr lang="en-US" sz="3200" b="1" dirty="0">
                <a:solidFill>
                  <a:srgbClr val="1E1C0D"/>
                </a:solidFill>
                <a:latin typeface="MiSans" pitchFamily="34" charset="-122"/>
                <a:ea typeface="MiSans" pitchFamily="34" charset="-122"/>
                <a:cs typeface="MiSans" pitchFamily="34" charset="-120"/>
              </a:rPr>
              <a:t>06</a:t>
            </a:r>
            <a:endParaRPr lang="en-US" sz="1600" dirty="0"/>
          </a:p>
        </p:txBody>
      </p:sp>
      <p:sp>
        <p:nvSpPr>
          <p:cNvPr id="54" name="Text 51"/>
          <p:cNvSpPr/>
          <p:nvPr>
            <p:custDataLst>
              <p:tags r:id="rId19"/>
            </p:custDataLst>
          </p:nvPr>
        </p:nvSpPr>
        <p:spPr>
          <a:xfrm>
            <a:off x="6342380" y="5250815"/>
            <a:ext cx="4887595"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3E3A1C"/>
                </a:solidFill>
                <a:latin typeface="MiSans" pitchFamily="34" charset="-122"/>
                <a:ea typeface="MiSans" pitchFamily="34" charset="-122"/>
                <a:cs typeface="MiSans" pitchFamily="34" charset="-120"/>
              </a:rPr>
              <a:t>参考文献与致谢</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p:spPr>
      </p:sp>
      <p:sp>
        <p:nvSpPr>
          <p:cNvPr id="5" name="Text 3"/>
          <p:cNvSpPr/>
          <p:nvPr/>
        </p:nvSpPr>
        <p:spPr>
          <a:xfrm>
            <a:off x="4445" y="0"/>
            <a:ext cx="12187555" cy="6875780"/>
          </a:xfrm>
          <a:prstGeom prst="rect">
            <a:avLst/>
          </a:prstGeom>
          <a:noFill/>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p:spPr>
      </p:sp>
      <p:sp>
        <p:nvSpPr>
          <p:cNvPr id="7" name="Text 5"/>
          <p:cNvSpPr/>
          <p:nvPr/>
        </p:nvSpPr>
        <p:spPr>
          <a:xfrm>
            <a:off x="85280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9" name="Text 7"/>
          <p:cNvSpPr/>
          <p:nvPr/>
        </p:nvSpPr>
        <p:spPr>
          <a:xfrm>
            <a:off x="113665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p:spPr>
      </p:sp>
      <p:sp>
        <p:nvSpPr>
          <p:cNvPr id="11" name="Text 9"/>
          <p:cNvSpPr/>
          <p:nvPr/>
        </p:nvSpPr>
        <p:spPr>
          <a:xfrm>
            <a:off x="142049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13" name="Text 11"/>
          <p:cNvSpPr/>
          <p:nvPr/>
        </p:nvSpPr>
        <p:spPr>
          <a:xfrm>
            <a:off x="170434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p:spPr>
      </p:sp>
      <p:sp>
        <p:nvSpPr>
          <p:cNvPr id="15" name="Text 13"/>
          <p:cNvSpPr/>
          <p:nvPr/>
        </p:nvSpPr>
        <p:spPr>
          <a:xfrm>
            <a:off x="198818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17" name="Text 15"/>
          <p:cNvSpPr/>
          <p:nvPr/>
        </p:nvSpPr>
        <p:spPr>
          <a:xfrm>
            <a:off x="227203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p:spPr>
      </p:sp>
      <p:sp>
        <p:nvSpPr>
          <p:cNvPr id="19" name="Text 17"/>
          <p:cNvSpPr/>
          <p:nvPr/>
        </p:nvSpPr>
        <p:spPr>
          <a:xfrm>
            <a:off x="11456035" y="38163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p:spPr>
      </p:sp>
      <p:sp>
        <p:nvSpPr>
          <p:cNvPr id="21" name="Text 19"/>
          <p:cNvSpPr/>
          <p:nvPr/>
        </p:nvSpPr>
        <p:spPr>
          <a:xfrm>
            <a:off x="11456035" y="501650"/>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p:spPr>
      </p:sp>
      <p:sp>
        <p:nvSpPr>
          <p:cNvPr id="23" name="Text 21"/>
          <p:cNvSpPr/>
          <p:nvPr/>
        </p:nvSpPr>
        <p:spPr>
          <a:xfrm>
            <a:off x="11456035" y="62166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sp>
      <p:sp>
        <p:nvSpPr>
          <p:cNvPr id="25" name="Shape 23"/>
          <p:cNvSpPr/>
          <p:nvPr/>
        </p:nvSpPr>
        <p:spPr>
          <a:xfrm>
            <a:off x="852805" y="6177280"/>
            <a:ext cx="259080" cy="259080"/>
          </a:xfrm>
          <a:prstGeom prst="ellipse">
            <a:avLst/>
          </a:prstGeom>
          <a:solidFill>
            <a:srgbClr val="FFFFFF"/>
          </a:solidFill>
        </p:spPr>
      </p:sp>
      <p:sp>
        <p:nvSpPr>
          <p:cNvPr id="26" name="Text 24"/>
          <p:cNvSpPr/>
          <p:nvPr/>
        </p:nvSpPr>
        <p:spPr>
          <a:xfrm>
            <a:off x="852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28" name="Text 26"/>
          <p:cNvSpPr/>
          <p:nvPr/>
        </p:nvSpPr>
        <p:spPr>
          <a:xfrm>
            <a:off x="979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9" name="Shape 27"/>
          <p:cNvSpPr/>
          <p:nvPr/>
        </p:nvSpPr>
        <p:spPr>
          <a:xfrm>
            <a:off x="1863725" y="2687320"/>
            <a:ext cx="8464550" cy="2306955"/>
          </a:xfrm>
          <a:prstGeom prst="rect">
            <a:avLst/>
          </a:prstGeom>
          <a:solidFill>
            <a:srgbClr val="000000">
              <a:alpha val="0"/>
            </a:srgbClr>
          </a:solidFill>
        </p:spPr>
      </p:sp>
      <p:sp>
        <p:nvSpPr>
          <p:cNvPr id="30" name="Text 28"/>
          <p:cNvSpPr/>
          <p:nvPr/>
        </p:nvSpPr>
        <p:spPr>
          <a:xfrm>
            <a:off x="1863725" y="2687320"/>
            <a:ext cx="8464550" cy="2306955"/>
          </a:xfrm>
          <a:prstGeom prst="rect">
            <a:avLst/>
          </a:prstGeom>
          <a:noFill/>
        </p:spPr>
        <p:txBody>
          <a:bodyPr wrap="square" lIns="45720" tIns="91440" rIns="91440" bIns="45720" rtlCol="0" anchor="t"/>
          <a:lstStyle/>
          <a:p>
            <a:pPr algn="ctr">
              <a:lnSpc>
                <a:spcPct val="100000"/>
              </a:lnSpc>
            </a:pPr>
            <a:r>
              <a:rPr lang="en-US" sz="7200" b="1" dirty="0">
                <a:solidFill>
                  <a:srgbClr val="FFFFFF"/>
                </a:solidFill>
                <a:latin typeface="MiSans" pitchFamily="34" charset="-122"/>
                <a:ea typeface="MiSans" pitchFamily="34" charset="-122"/>
                <a:cs typeface="MiSans" pitchFamily="34" charset="-120"/>
              </a:rPr>
              <a:t>选题背景与意义</a:t>
            </a:r>
            <a:endParaRPr lang="en-US" sz="1600" dirty="0"/>
          </a:p>
        </p:txBody>
      </p:sp>
      <p:sp>
        <p:nvSpPr>
          <p:cNvPr id="31" name="Text 29"/>
          <p:cNvSpPr/>
          <p:nvPr/>
        </p:nvSpPr>
        <p:spPr>
          <a:xfrm>
            <a:off x="2515235" y="1350010"/>
            <a:ext cx="7161530" cy="1104900"/>
          </a:xfrm>
          <a:prstGeom prst="rect">
            <a:avLst/>
          </a:prstGeom>
          <a:noFill/>
        </p:spPr>
        <p:txBody>
          <a:bodyPr wrap="square" lIns="91440" tIns="45720" rIns="91440" bIns="45720" rtlCol="0" anchor="t">
            <a:spAutoFit/>
          </a:bodyPr>
          <a:lstStyle/>
          <a:p>
            <a:pPr algn="ctr">
              <a:lnSpc>
                <a:spcPct val="100000"/>
              </a:lnSpc>
            </a:pPr>
            <a:r>
              <a:rPr lang="en-US" sz="7200" dirty="0">
                <a:solidFill>
                  <a:srgbClr val="FFFFFF"/>
                </a:solidFill>
                <a:latin typeface="MiSans" pitchFamily="34" charset="-122"/>
                <a:ea typeface="MiSans" pitchFamily="34" charset="-122"/>
                <a:cs typeface="MiSans" pitchFamily="34" charset="-120"/>
              </a:rPr>
              <a:t>01</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rot="16200000" flipH="1" flipV="1">
            <a:off x="4631055" y="-4632960"/>
            <a:ext cx="2919095" cy="12209145"/>
          </a:xfrm>
          <a:prstGeom prst="round2DiagRect">
            <a:avLst>
              <a:gd name="adj1" fmla="val 0"/>
              <a:gd name="adj2" fmla="val 0"/>
            </a:avLst>
          </a:prstGeom>
          <a:solidFill>
            <a:srgbClr val="402E7F"/>
          </a:solidFill>
        </p:spPr>
      </p:sp>
      <p:sp>
        <p:nvSpPr>
          <p:cNvPr id="5" name="Text 3"/>
          <p:cNvSpPr/>
          <p:nvPr/>
        </p:nvSpPr>
        <p:spPr>
          <a:xfrm rot="16200000">
            <a:off x="4631055" y="-4632960"/>
            <a:ext cx="2919095" cy="12209145"/>
          </a:xfrm>
          <a:prstGeom prst="rect">
            <a:avLst/>
          </a:prstGeom>
          <a:noFill/>
        </p:spPr>
        <p:txBody>
          <a:bodyPr wrap="square" lIns="45720" tIns="91440" rIns="91440" bIns="45720" rtlCol="0" anchor="ctr"/>
          <a:lstStyle/>
          <a:p>
            <a:pPr>
              <a:lnSpc>
                <a:spcPct val="100000"/>
              </a:lnSpc>
            </a:pPr>
            <a:endParaRPr lang="en-US" sz="1600" dirty="0"/>
          </a:p>
        </p:txBody>
      </p:sp>
      <p:sp>
        <p:nvSpPr>
          <p:cNvPr id="6" name="Text 4"/>
          <p:cNvSpPr/>
          <p:nvPr/>
        </p:nvSpPr>
        <p:spPr>
          <a:xfrm>
            <a:off x="582930" y="455295"/>
            <a:ext cx="10151745" cy="499467"/>
          </a:xfrm>
          <a:prstGeom prst="rect">
            <a:avLst/>
          </a:prstGeom>
          <a:noFill/>
        </p:spPr>
        <p:txBody>
          <a:bodyPr wrap="square" lIns="91440" tIns="45720" rIns="91440" bIns="45720" rtlCol="0" anchor="t">
            <a:spAutoFit/>
          </a:bodyPr>
          <a:lstStyle/>
          <a:p>
            <a:pPr>
              <a:lnSpc>
                <a:spcPct val="100000"/>
              </a:lnSpc>
            </a:pPr>
            <a:r>
              <a:rPr lang="en-US" sz="3200" b="1" dirty="0">
                <a:solidFill>
                  <a:srgbClr val="FFFFFF"/>
                </a:solidFill>
                <a:latin typeface="MiSans" pitchFamily="34" charset="-122"/>
                <a:ea typeface="MiSans" pitchFamily="34" charset="-122"/>
                <a:cs typeface="MiSans" pitchFamily="34" charset="-120"/>
              </a:rPr>
              <a:t>一、选题背景与意义</a:t>
            </a:r>
            <a:endParaRPr lang="en-US" sz="1600" dirty="0"/>
          </a:p>
        </p:txBody>
      </p:sp>
      <p:sp>
        <p:nvSpPr>
          <p:cNvPr id="7" name="Shape 5"/>
          <p:cNvSpPr/>
          <p:nvPr/>
        </p:nvSpPr>
        <p:spPr>
          <a:xfrm rot="5940000">
            <a:off x="292735" y="295275"/>
            <a:ext cx="558800" cy="558800"/>
          </a:xfrm>
          <a:prstGeom prst="donut">
            <a:avLst/>
          </a:prstGeom>
          <a:gradFill flip="none" rotWithShape="1">
            <a:gsLst>
              <a:gs pos="0">
                <a:srgbClr val="FFFFFF"/>
              </a:gs>
              <a:gs pos="54000">
                <a:srgbClr val="FFFFFF">
                  <a:alpha val="0"/>
                </a:srgbClr>
              </a:gs>
              <a:gs pos="100000">
                <a:srgbClr val="FFFFFF">
                  <a:alpha val="0"/>
                </a:srgbClr>
              </a:gs>
            </a:gsLst>
            <a:lin ang="18900000" scaled="1"/>
          </a:gradFill>
        </p:spPr>
      </p:sp>
      <p:sp>
        <p:nvSpPr>
          <p:cNvPr id="8" name="Text 6"/>
          <p:cNvSpPr/>
          <p:nvPr/>
        </p:nvSpPr>
        <p:spPr>
          <a:xfrm rot="5940000">
            <a:off x="292735" y="295275"/>
            <a:ext cx="558800" cy="558800"/>
          </a:xfrm>
          <a:prstGeom prst="rect">
            <a:avLst/>
          </a:prstGeom>
          <a:noFill/>
        </p:spPr>
        <p:txBody>
          <a:bodyPr wrap="square" lIns="45720" tIns="91440" rIns="91440" bIns="45720" rtlCol="0" anchor="t"/>
          <a:lstStyle/>
          <a:p>
            <a:pPr>
              <a:lnSpc>
                <a:spcPct val="100000"/>
              </a:lnSpc>
            </a:pPr>
            <a:endParaRPr lang="en-US" sz="1600" dirty="0"/>
          </a:p>
        </p:txBody>
      </p:sp>
      <p:pic>
        <p:nvPicPr>
          <p:cNvPr id="9" name="Image 0" descr="https://test-kimi-img.moonshot.cn/pub/slides/slides_tmpl/image/25-08-11-17:39:04-d2crke70ctitcgma2ifg.jpg"/>
          <p:cNvPicPr>
            <a:picLocks noChangeAspect="1"/>
          </p:cNvPicPr>
          <p:nvPr/>
        </p:nvPicPr>
        <p:blipFill>
          <a:blip r:embed="rId1"/>
          <a:srcRect l="48" r="48"/>
          <a:stretch>
            <a:fillRect/>
          </a:stretch>
        </p:blipFill>
        <p:spPr>
          <a:xfrm>
            <a:off x="8419465" y="1526540"/>
            <a:ext cx="3337560" cy="4813300"/>
          </a:xfrm>
          <a:prstGeom prst="rect">
            <a:avLst/>
          </a:prstGeom>
        </p:spPr>
      </p:pic>
      <p:sp>
        <p:nvSpPr>
          <p:cNvPr id="10" name="Text 7"/>
          <p:cNvSpPr/>
          <p:nvPr/>
        </p:nvSpPr>
        <p:spPr>
          <a:xfrm>
            <a:off x="648970" y="1334135"/>
            <a:ext cx="7634715" cy="306784"/>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FFFFFF"/>
                </a:solidFill>
                <a:latin typeface="MiSans" pitchFamily="34" charset="-122"/>
                <a:ea typeface="MiSans" pitchFamily="34" charset="-122"/>
                <a:cs typeface="MiSans" pitchFamily="34" charset="-120"/>
              </a:rPr>
              <a:t>核心痛点</a:t>
            </a:r>
            <a:endParaRPr lang="en-US" sz="1600" dirty="0"/>
          </a:p>
        </p:txBody>
      </p:sp>
      <p:sp>
        <p:nvSpPr>
          <p:cNvPr id="11" name="Text 8"/>
          <p:cNvSpPr/>
          <p:nvPr/>
        </p:nvSpPr>
        <p:spPr>
          <a:xfrm>
            <a:off x="648970" y="1733550"/>
            <a:ext cx="7652385" cy="633809"/>
          </a:xfrm>
          <a:prstGeom prst="rect">
            <a:avLst/>
          </a:prstGeom>
          <a:noFill/>
        </p:spPr>
        <p:txBody>
          <a:bodyPr wrap="square" lIns="91440" tIns="45720" rIns="91440" bIns="45720" rtlCol="0" anchor="t">
            <a:spAutoFit/>
          </a:bodyPr>
          <a:lstStyle/>
          <a:p>
            <a:pPr algn="just">
              <a:lnSpc>
                <a:spcPct val="130000"/>
              </a:lnSpc>
            </a:pPr>
            <a:r>
              <a:rPr lang="en-US" sz="1600" dirty="0">
                <a:solidFill>
                  <a:srgbClr val="FFFFFF"/>
                </a:solidFill>
                <a:latin typeface="MiSans" pitchFamily="34" charset="-122"/>
                <a:ea typeface="MiSans" pitchFamily="34" charset="-122"/>
                <a:cs typeface="MiSans" pitchFamily="34" charset="-120"/>
              </a:rPr>
              <a:t>通用平台内容泛化，校园场景化需求被稀释，信息链路断裂，学生间及组织间定向互动成本高。</a:t>
            </a:r>
            <a:endParaRPr lang="en-US" sz="1600" dirty="0"/>
          </a:p>
        </p:txBody>
      </p:sp>
      <p:sp>
        <p:nvSpPr>
          <p:cNvPr id="12" name="Text 9"/>
          <p:cNvSpPr/>
          <p:nvPr/>
        </p:nvSpPr>
        <p:spPr>
          <a:xfrm>
            <a:off x="740410" y="3091815"/>
            <a:ext cx="3333654" cy="306784"/>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402E7F"/>
                </a:solidFill>
                <a:latin typeface="MiSans" pitchFamily="34" charset="-122"/>
                <a:ea typeface="MiSans" pitchFamily="34" charset="-122"/>
                <a:cs typeface="MiSans" pitchFamily="34" charset="-120"/>
              </a:rPr>
              <a:t>应用价值</a:t>
            </a:r>
            <a:endParaRPr lang="en-US" sz="1600" dirty="0"/>
          </a:p>
        </p:txBody>
      </p:sp>
      <p:sp>
        <p:nvSpPr>
          <p:cNvPr id="13" name="Text 10"/>
          <p:cNvSpPr/>
          <p:nvPr/>
        </p:nvSpPr>
        <p:spPr>
          <a:xfrm>
            <a:off x="740410" y="3765550"/>
            <a:ext cx="3341370" cy="2494915"/>
          </a:xfrm>
          <a:prstGeom prst="rect">
            <a:avLst/>
          </a:prstGeom>
          <a:noFill/>
        </p:spPr>
        <p:txBody>
          <a:bodyPr wrap="square" lIns="91440" tIns="45720" rIns="91440" bIns="45720" rtlCol="0" anchor="t"/>
          <a:lstStyle/>
          <a:p>
            <a:pPr algn="just">
              <a:lnSpc>
                <a:spcPct val="120000"/>
              </a:lnSpc>
            </a:pPr>
            <a:r>
              <a:rPr lang="en-US" sz="1600" dirty="0">
                <a:solidFill>
                  <a:srgbClr val="1E1C0D"/>
                </a:solidFill>
                <a:latin typeface="MiSans" pitchFamily="34" charset="-122"/>
                <a:ea typeface="MiSans" pitchFamily="34" charset="-122"/>
                <a:cs typeface="MiSans" pitchFamily="34" charset="-120"/>
              </a:rPr>
              <a:t>构建校园垂直社区，解决信息精准传播与高效互动痛点，满足校园内特定群体的深度社交需求。</a:t>
            </a:r>
            <a:endParaRPr lang="en-US" sz="1600" dirty="0"/>
          </a:p>
        </p:txBody>
      </p:sp>
      <p:sp>
        <p:nvSpPr>
          <p:cNvPr id="14" name="Text 11"/>
          <p:cNvSpPr/>
          <p:nvPr/>
        </p:nvSpPr>
        <p:spPr>
          <a:xfrm>
            <a:off x="4707890" y="3091815"/>
            <a:ext cx="3333654" cy="306784"/>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402E7F"/>
                </a:solidFill>
                <a:latin typeface="MiSans" pitchFamily="34" charset="-122"/>
                <a:ea typeface="MiSans" pitchFamily="34" charset="-122"/>
                <a:cs typeface="MiSans" pitchFamily="34" charset="-120"/>
              </a:rPr>
              <a:t>实践与理论价值</a:t>
            </a:r>
            <a:endParaRPr lang="en-US" sz="1600" dirty="0"/>
          </a:p>
        </p:txBody>
      </p:sp>
      <p:sp>
        <p:nvSpPr>
          <p:cNvPr id="15" name="Text 12"/>
          <p:cNvSpPr/>
          <p:nvPr/>
        </p:nvSpPr>
        <p:spPr>
          <a:xfrm>
            <a:off x="4707890" y="3765550"/>
            <a:ext cx="3341370" cy="2494915"/>
          </a:xfrm>
          <a:prstGeom prst="rect">
            <a:avLst/>
          </a:prstGeom>
          <a:noFill/>
        </p:spPr>
        <p:txBody>
          <a:bodyPr wrap="square" lIns="91440" tIns="45720" rIns="91440" bIns="45720" rtlCol="0" anchor="t"/>
          <a:lstStyle/>
          <a:p>
            <a:pPr algn="just">
              <a:lnSpc>
                <a:spcPct val="120000"/>
              </a:lnSpc>
            </a:pPr>
            <a:r>
              <a:rPr lang="en-US" sz="1600" dirty="0">
                <a:solidFill>
                  <a:srgbClr val="1E1C0D"/>
                </a:solidFill>
                <a:latin typeface="MiSans" pitchFamily="34" charset="-122"/>
                <a:ea typeface="MiSans" pitchFamily="34" charset="-122"/>
                <a:cs typeface="MiSans" pitchFamily="34" charset="-120"/>
              </a:rPr>
              <a:t>作为全栈技术的综合实践载体，探索协同过滤算法在垂直小群体场景下的应用与优化，填补研究空白。</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p:spPr>
      </p:sp>
      <p:sp>
        <p:nvSpPr>
          <p:cNvPr id="5" name="Text 3"/>
          <p:cNvSpPr/>
          <p:nvPr/>
        </p:nvSpPr>
        <p:spPr>
          <a:xfrm>
            <a:off x="4445" y="0"/>
            <a:ext cx="12187555" cy="6875780"/>
          </a:xfrm>
          <a:prstGeom prst="rect">
            <a:avLst/>
          </a:prstGeom>
          <a:noFill/>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p:spPr>
      </p:sp>
      <p:sp>
        <p:nvSpPr>
          <p:cNvPr id="7" name="Text 5"/>
          <p:cNvSpPr/>
          <p:nvPr/>
        </p:nvSpPr>
        <p:spPr>
          <a:xfrm>
            <a:off x="85280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9" name="Text 7"/>
          <p:cNvSpPr/>
          <p:nvPr/>
        </p:nvSpPr>
        <p:spPr>
          <a:xfrm>
            <a:off x="113665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p:spPr>
      </p:sp>
      <p:sp>
        <p:nvSpPr>
          <p:cNvPr id="11" name="Text 9"/>
          <p:cNvSpPr/>
          <p:nvPr/>
        </p:nvSpPr>
        <p:spPr>
          <a:xfrm>
            <a:off x="142049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13" name="Text 11"/>
          <p:cNvSpPr/>
          <p:nvPr/>
        </p:nvSpPr>
        <p:spPr>
          <a:xfrm>
            <a:off x="170434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p:spPr>
      </p:sp>
      <p:sp>
        <p:nvSpPr>
          <p:cNvPr id="15" name="Text 13"/>
          <p:cNvSpPr/>
          <p:nvPr/>
        </p:nvSpPr>
        <p:spPr>
          <a:xfrm>
            <a:off x="198818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17" name="Text 15"/>
          <p:cNvSpPr/>
          <p:nvPr/>
        </p:nvSpPr>
        <p:spPr>
          <a:xfrm>
            <a:off x="227203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p:spPr>
      </p:sp>
      <p:sp>
        <p:nvSpPr>
          <p:cNvPr id="19" name="Text 17"/>
          <p:cNvSpPr/>
          <p:nvPr/>
        </p:nvSpPr>
        <p:spPr>
          <a:xfrm>
            <a:off x="11456035" y="38163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p:spPr>
      </p:sp>
      <p:sp>
        <p:nvSpPr>
          <p:cNvPr id="21" name="Text 19"/>
          <p:cNvSpPr/>
          <p:nvPr/>
        </p:nvSpPr>
        <p:spPr>
          <a:xfrm>
            <a:off x="11456035" y="501650"/>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p:spPr>
      </p:sp>
      <p:sp>
        <p:nvSpPr>
          <p:cNvPr id="23" name="Text 21"/>
          <p:cNvSpPr/>
          <p:nvPr/>
        </p:nvSpPr>
        <p:spPr>
          <a:xfrm>
            <a:off x="11456035" y="62166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sp>
      <p:sp>
        <p:nvSpPr>
          <p:cNvPr id="25" name="Shape 23"/>
          <p:cNvSpPr/>
          <p:nvPr/>
        </p:nvSpPr>
        <p:spPr>
          <a:xfrm>
            <a:off x="852805" y="6177280"/>
            <a:ext cx="259080" cy="259080"/>
          </a:xfrm>
          <a:prstGeom prst="ellipse">
            <a:avLst/>
          </a:prstGeom>
          <a:solidFill>
            <a:srgbClr val="FFFFFF"/>
          </a:solidFill>
        </p:spPr>
      </p:sp>
      <p:sp>
        <p:nvSpPr>
          <p:cNvPr id="26" name="Text 24"/>
          <p:cNvSpPr/>
          <p:nvPr/>
        </p:nvSpPr>
        <p:spPr>
          <a:xfrm>
            <a:off x="852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28" name="Text 26"/>
          <p:cNvSpPr/>
          <p:nvPr/>
        </p:nvSpPr>
        <p:spPr>
          <a:xfrm>
            <a:off x="979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9" name="Shape 27"/>
          <p:cNvSpPr/>
          <p:nvPr/>
        </p:nvSpPr>
        <p:spPr>
          <a:xfrm>
            <a:off x="1863725" y="2687320"/>
            <a:ext cx="8464550" cy="2306955"/>
          </a:xfrm>
          <a:prstGeom prst="rect">
            <a:avLst/>
          </a:prstGeom>
          <a:solidFill>
            <a:srgbClr val="000000">
              <a:alpha val="0"/>
            </a:srgbClr>
          </a:solidFill>
        </p:spPr>
      </p:sp>
      <p:sp>
        <p:nvSpPr>
          <p:cNvPr id="30" name="Text 28"/>
          <p:cNvSpPr/>
          <p:nvPr/>
        </p:nvSpPr>
        <p:spPr>
          <a:xfrm>
            <a:off x="1863725" y="2687320"/>
            <a:ext cx="8464550" cy="2306955"/>
          </a:xfrm>
          <a:prstGeom prst="rect">
            <a:avLst/>
          </a:prstGeom>
          <a:noFill/>
        </p:spPr>
        <p:txBody>
          <a:bodyPr wrap="square" lIns="45720" tIns="91440" rIns="91440" bIns="45720" rtlCol="0" anchor="t"/>
          <a:lstStyle/>
          <a:p>
            <a:pPr algn="ctr">
              <a:lnSpc>
                <a:spcPct val="100000"/>
              </a:lnSpc>
            </a:pPr>
            <a:r>
              <a:rPr lang="en-US" sz="7200" b="1" dirty="0">
                <a:solidFill>
                  <a:srgbClr val="FFFFFF"/>
                </a:solidFill>
                <a:latin typeface="MiSans" pitchFamily="34" charset="-122"/>
                <a:ea typeface="MiSans" pitchFamily="34" charset="-122"/>
                <a:cs typeface="MiSans" pitchFamily="34" charset="-120"/>
              </a:rPr>
              <a:t>国内外研究现状</a:t>
            </a:r>
            <a:endParaRPr lang="en-US" sz="1600" dirty="0"/>
          </a:p>
        </p:txBody>
      </p:sp>
      <p:sp>
        <p:nvSpPr>
          <p:cNvPr id="31" name="Text 29"/>
          <p:cNvSpPr/>
          <p:nvPr/>
        </p:nvSpPr>
        <p:spPr>
          <a:xfrm>
            <a:off x="2515235" y="1350010"/>
            <a:ext cx="7161530" cy="1104900"/>
          </a:xfrm>
          <a:prstGeom prst="rect">
            <a:avLst/>
          </a:prstGeom>
          <a:noFill/>
        </p:spPr>
        <p:txBody>
          <a:bodyPr wrap="square" lIns="91440" tIns="45720" rIns="91440" bIns="45720" rtlCol="0" anchor="t">
            <a:spAutoFit/>
          </a:bodyPr>
          <a:lstStyle/>
          <a:p>
            <a:pPr algn="ctr">
              <a:lnSpc>
                <a:spcPct val="100000"/>
              </a:lnSpc>
            </a:pPr>
            <a:r>
              <a:rPr lang="en-US" sz="7200" dirty="0">
                <a:solidFill>
                  <a:srgbClr val="FFFFFF"/>
                </a:solidFill>
                <a:latin typeface="MiSans" pitchFamily="34" charset="-122"/>
                <a:ea typeface="MiSans" pitchFamily="34" charset="-122"/>
                <a:cs typeface="MiSans" pitchFamily="34" charset="-120"/>
              </a:rPr>
              <a:t>02</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292735" y="295275"/>
            <a:ext cx="558800" cy="558800"/>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0" y="4266565"/>
            <a:ext cx="12192000" cy="2591435"/>
          </a:xfrm>
          <a:prstGeom prst="rect">
            <a:avLst/>
          </a:prstGeom>
          <a:solidFill>
            <a:srgbClr val="402E7F"/>
          </a:solidFill>
        </p:spPr>
      </p:sp>
      <p:sp>
        <p:nvSpPr>
          <p:cNvPr id="5" name="Text 3"/>
          <p:cNvSpPr/>
          <p:nvPr/>
        </p:nvSpPr>
        <p:spPr>
          <a:xfrm>
            <a:off x="0" y="4266565"/>
            <a:ext cx="12192000" cy="2591435"/>
          </a:xfrm>
          <a:prstGeom prst="rect">
            <a:avLst/>
          </a:prstGeom>
          <a:noFill/>
        </p:spPr>
        <p:txBody>
          <a:bodyPr wrap="square" lIns="45720" tIns="91440" rIns="91440" bIns="45720" rtlCol="0" anchor="ctr"/>
          <a:lstStyle/>
          <a:p>
            <a:pPr>
              <a:lnSpc>
                <a:spcPct val="100000"/>
              </a:lnSpc>
            </a:pPr>
            <a:endParaRPr lang="en-US" sz="1600" dirty="0"/>
          </a:p>
        </p:txBody>
      </p:sp>
      <p:sp>
        <p:nvSpPr>
          <p:cNvPr id="6" name="Text 4"/>
          <p:cNvSpPr/>
          <p:nvPr/>
        </p:nvSpPr>
        <p:spPr>
          <a:xfrm>
            <a:off x="582930" y="455295"/>
            <a:ext cx="10151745" cy="499467"/>
          </a:xfrm>
          <a:prstGeom prst="rect">
            <a:avLst/>
          </a:prstGeom>
          <a:noFill/>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122"/>
                <a:ea typeface="MiSans" pitchFamily="34" charset="-122"/>
                <a:cs typeface="MiSans" pitchFamily="34" charset="-120"/>
              </a:rPr>
              <a:t>二、国内外研究现状</a:t>
            </a:r>
            <a:endParaRPr lang="en-US" sz="1600" dirty="0"/>
          </a:p>
        </p:txBody>
      </p:sp>
      <p:pic>
        <p:nvPicPr>
          <p:cNvPr id="7" name="Image 0" descr="https://test-kimi-img.moonshot.cn/pub/slides/slides_tmpl/image/25-08-11-17:39:04-d2crke70ctitcgma2ie0.png"/>
          <p:cNvPicPr>
            <a:picLocks noChangeAspect="1"/>
          </p:cNvPicPr>
          <p:nvPr/>
        </p:nvPicPr>
        <p:blipFill>
          <a:blip r:embed="rId1"/>
          <a:srcRect t="117" b="117"/>
          <a:stretch>
            <a:fillRect/>
          </a:stretch>
        </p:blipFill>
        <p:spPr>
          <a:xfrm>
            <a:off x="847090" y="1393825"/>
            <a:ext cx="4114165" cy="2712720"/>
          </a:xfrm>
          <a:prstGeom prst="rect">
            <a:avLst/>
          </a:prstGeom>
        </p:spPr>
      </p:pic>
      <p:sp>
        <p:nvSpPr>
          <p:cNvPr id="8" name="Text 5"/>
          <p:cNvSpPr/>
          <p:nvPr/>
        </p:nvSpPr>
        <p:spPr>
          <a:xfrm>
            <a:off x="5011420" y="1511300"/>
            <a:ext cx="6310800"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1E1C0D"/>
                </a:solidFill>
                <a:latin typeface="MiSans" pitchFamily="34" charset="-122"/>
                <a:ea typeface="MiSans" pitchFamily="34" charset="-122"/>
                <a:cs typeface="MiSans" pitchFamily="34" charset="-120"/>
              </a:rPr>
              <a:t>国内现状</a:t>
            </a:r>
            <a:endParaRPr lang="en-US" sz="1600" dirty="0"/>
          </a:p>
        </p:txBody>
      </p:sp>
      <p:sp>
        <p:nvSpPr>
          <p:cNvPr id="9" name="Text 6"/>
          <p:cNvSpPr/>
          <p:nvPr/>
        </p:nvSpPr>
        <p:spPr>
          <a:xfrm>
            <a:off x="5041265" y="2008505"/>
            <a:ext cx="6309995" cy="713184"/>
          </a:xfrm>
          <a:prstGeom prst="rect">
            <a:avLst/>
          </a:prstGeom>
          <a:noFill/>
        </p:spPr>
        <p:txBody>
          <a:bodyPr wrap="square" lIns="91440" tIns="45720" rIns="91440" bIns="45720" rtlCol="0" anchor="t">
            <a:spAutoFit/>
          </a:bodyPr>
          <a:lstStyle/>
          <a:p>
            <a:pPr algn="just">
              <a:lnSpc>
                <a:spcPct val="130000"/>
              </a:lnSpc>
            </a:pPr>
            <a:r>
              <a:rPr lang="en-US" sz="1800" dirty="0">
                <a:solidFill>
                  <a:srgbClr val="1E1C0D"/>
                </a:solidFill>
                <a:latin typeface="MiSans" pitchFamily="34" charset="-122"/>
                <a:ea typeface="MiSans" pitchFamily="34" charset="-122"/>
                <a:cs typeface="MiSans" pitchFamily="34" charset="-120"/>
              </a:rPr>
              <a:t>通用平台功能全面但校园适配不足，传统校园工具信息分散、互动弱，垂直校园APP重工具轻UGC社交。</a:t>
            </a:r>
            <a:endParaRPr lang="en-US" sz="1600" dirty="0"/>
          </a:p>
        </p:txBody>
      </p:sp>
      <p:sp>
        <p:nvSpPr>
          <p:cNvPr id="10" name="Text 7"/>
          <p:cNvSpPr/>
          <p:nvPr/>
        </p:nvSpPr>
        <p:spPr>
          <a:xfrm>
            <a:off x="847090" y="4481830"/>
            <a:ext cx="10515600" cy="429617"/>
          </a:xfrm>
          <a:prstGeom prst="rect">
            <a:avLst/>
          </a:prstGeom>
          <a:noFill/>
        </p:spPr>
        <p:txBody>
          <a:bodyPr wrap="square" lIns="91440" tIns="45720" rIns="91440" bIns="45720" rtlCol="0" anchor="t">
            <a:spAutoFit/>
          </a:bodyPr>
          <a:lstStyle/>
          <a:p>
            <a:pPr algn="just">
              <a:lnSpc>
                <a:spcPct val="100000"/>
              </a:lnSpc>
            </a:pPr>
            <a:r>
              <a:rPr lang="en-US" sz="2800" b="1" dirty="0">
                <a:solidFill>
                  <a:srgbClr val="FFFFFF"/>
                </a:solidFill>
                <a:latin typeface="MiSans" pitchFamily="34" charset="-122"/>
                <a:ea typeface="MiSans" pitchFamily="34" charset="-122"/>
                <a:cs typeface="MiSans" pitchFamily="34" charset="-120"/>
              </a:rPr>
              <a:t>国外现状与研究热点</a:t>
            </a:r>
            <a:endParaRPr lang="en-US" sz="1600" dirty="0"/>
          </a:p>
        </p:txBody>
      </p:sp>
      <p:sp>
        <p:nvSpPr>
          <p:cNvPr id="11" name="Text 8"/>
          <p:cNvSpPr/>
          <p:nvPr/>
        </p:nvSpPr>
        <p:spPr>
          <a:xfrm>
            <a:off x="847090" y="5080000"/>
            <a:ext cx="10514330" cy="713184"/>
          </a:xfrm>
          <a:prstGeom prst="rect">
            <a:avLst/>
          </a:prstGeom>
          <a:noFill/>
        </p:spPr>
        <p:txBody>
          <a:bodyPr wrap="square" lIns="91440" tIns="45720" rIns="91440" bIns="45720" rtlCol="0" anchor="t">
            <a:spAutoFit/>
          </a:bodyPr>
          <a:lstStyle/>
          <a:p>
            <a:pPr algn="just">
              <a:lnSpc>
                <a:spcPct val="130000"/>
              </a:lnSpc>
            </a:pPr>
            <a:r>
              <a:rPr lang="en-US" sz="1800" dirty="0">
                <a:solidFill>
                  <a:srgbClr val="FFFFFF"/>
                </a:solidFill>
                <a:latin typeface="MiSans" pitchFamily="34" charset="-122"/>
                <a:ea typeface="MiSans" pitchFamily="34" charset="-122"/>
                <a:cs typeface="MiSans" pitchFamily="34" charset="-120"/>
              </a:rPr>
              <a:t>国外学习管理系统以课程管理为核心，社群工具通用性强但缺乏校园信息结构化与智能推荐，个性化推荐系统技术成熟但与特定校园文化场景结合的研究仍有空间。</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p:spPr>
      </p:sp>
      <p:sp>
        <p:nvSpPr>
          <p:cNvPr id="5" name="Text 3"/>
          <p:cNvSpPr/>
          <p:nvPr/>
        </p:nvSpPr>
        <p:spPr>
          <a:xfrm>
            <a:off x="4445" y="0"/>
            <a:ext cx="12187555" cy="6875780"/>
          </a:xfrm>
          <a:prstGeom prst="rect">
            <a:avLst/>
          </a:prstGeom>
          <a:noFill/>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p:spPr>
      </p:sp>
      <p:sp>
        <p:nvSpPr>
          <p:cNvPr id="7" name="Text 5"/>
          <p:cNvSpPr/>
          <p:nvPr/>
        </p:nvSpPr>
        <p:spPr>
          <a:xfrm>
            <a:off x="85280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9" name="Text 7"/>
          <p:cNvSpPr/>
          <p:nvPr/>
        </p:nvSpPr>
        <p:spPr>
          <a:xfrm>
            <a:off x="113665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p:spPr>
      </p:sp>
      <p:sp>
        <p:nvSpPr>
          <p:cNvPr id="11" name="Text 9"/>
          <p:cNvSpPr/>
          <p:nvPr/>
        </p:nvSpPr>
        <p:spPr>
          <a:xfrm>
            <a:off x="142049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13" name="Text 11"/>
          <p:cNvSpPr/>
          <p:nvPr/>
        </p:nvSpPr>
        <p:spPr>
          <a:xfrm>
            <a:off x="170434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p:spPr>
      </p:sp>
      <p:sp>
        <p:nvSpPr>
          <p:cNvPr id="15" name="Text 13"/>
          <p:cNvSpPr/>
          <p:nvPr/>
        </p:nvSpPr>
        <p:spPr>
          <a:xfrm>
            <a:off x="198818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17" name="Text 15"/>
          <p:cNvSpPr/>
          <p:nvPr/>
        </p:nvSpPr>
        <p:spPr>
          <a:xfrm>
            <a:off x="227203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p:spPr>
      </p:sp>
      <p:sp>
        <p:nvSpPr>
          <p:cNvPr id="19" name="Text 17"/>
          <p:cNvSpPr/>
          <p:nvPr/>
        </p:nvSpPr>
        <p:spPr>
          <a:xfrm>
            <a:off x="11456035" y="38163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p:spPr>
      </p:sp>
      <p:sp>
        <p:nvSpPr>
          <p:cNvPr id="21" name="Text 19"/>
          <p:cNvSpPr/>
          <p:nvPr/>
        </p:nvSpPr>
        <p:spPr>
          <a:xfrm>
            <a:off x="11456035" y="501650"/>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p:spPr>
      </p:sp>
      <p:sp>
        <p:nvSpPr>
          <p:cNvPr id="23" name="Text 21"/>
          <p:cNvSpPr/>
          <p:nvPr/>
        </p:nvSpPr>
        <p:spPr>
          <a:xfrm>
            <a:off x="11456035" y="62166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sp>
      <p:sp>
        <p:nvSpPr>
          <p:cNvPr id="25" name="Shape 23"/>
          <p:cNvSpPr/>
          <p:nvPr/>
        </p:nvSpPr>
        <p:spPr>
          <a:xfrm>
            <a:off x="852805" y="6177280"/>
            <a:ext cx="259080" cy="259080"/>
          </a:xfrm>
          <a:prstGeom prst="ellipse">
            <a:avLst/>
          </a:prstGeom>
          <a:solidFill>
            <a:srgbClr val="FFFFFF"/>
          </a:solidFill>
        </p:spPr>
      </p:sp>
      <p:sp>
        <p:nvSpPr>
          <p:cNvPr id="26" name="Text 24"/>
          <p:cNvSpPr/>
          <p:nvPr/>
        </p:nvSpPr>
        <p:spPr>
          <a:xfrm>
            <a:off x="852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28" name="Text 26"/>
          <p:cNvSpPr/>
          <p:nvPr/>
        </p:nvSpPr>
        <p:spPr>
          <a:xfrm>
            <a:off x="979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9" name="Shape 27"/>
          <p:cNvSpPr/>
          <p:nvPr/>
        </p:nvSpPr>
        <p:spPr>
          <a:xfrm>
            <a:off x="1863725" y="2687320"/>
            <a:ext cx="8464550" cy="2306955"/>
          </a:xfrm>
          <a:prstGeom prst="rect">
            <a:avLst/>
          </a:prstGeom>
          <a:solidFill>
            <a:srgbClr val="000000">
              <a:alpha val="0"/>
            </a:srgbClr>
          </a:solidFill>
        </p:spPr>
      </p:sp>
      <p:sp>
        <p:nvSpPr>
          <p:cNvPr id="30" name="Text 28"/>
          <p:cNvSpPr/>
          <p:nvPr/>
        </p:nvSpPr>
        <p:spPr>
          <a:xfrm>
            <a:off x="1863725" y="2687320"/>
            <a:ext cx="8464550" cy="2306955"/>
          </a:xfrm>
          <a:prstGeom prst="rect">
            <a:avLst/>
          </a:prstGeom>
          <a:noFill/>
        </p:spPr>
        <p:txBody>
          <a:bodyPr wrap="square" lIns="45720" tIns="91440" rIns="91440" bIns="45720" rtlCol="0" anchor="t"/>
          <a:lstStyle/>
          <a:p>
            <a:pPr algn="ctr">
              <a:lnSpc>
                <a:spcPct val="100000"/>
              </a:lnSpc>
            </a:pPr>
            <a:r>
              <a:rPr lang="en-US" sz="7200" b="1" dirty="0">
                <a:solidFill>
                  <a:srgbClr val="FFFFFF"/>
                </a:solidFill>
                <a:latin typeface="MiSans" pitchFamily="34" charset="-122"/>
                <a:ea typeface="MiSans" pitchFamily="34" charset="-122"/>
                <a:cs typeface="MiSans" pitchFamily="34" charset="-120"/>
              </a:rPr>
              <a:t>主要研究内容</a:t>
            </a:r>
            <a:endParaRPr lang="en-US" sz="1600" dirty="0"/>
          </a:p>
        </p:txBody>
      </p:sp>
      <p:sp>
        <p:nvSpPr>
          <p:cNvPr id="31" name="Text 29"/>
          <p:cNvSpPr/>
          <p:nvPr/>
        </p:nvSpPr>
        <p:spPr>
          <a:xfrm>
            <a:off x="2515235" y="1350010"/>
            <a:ext cx="7161530" cy="1104900"/>
          </a:xfrm>
          <a:prstGeom prst="rect">
            <a:avLst/>
          </a:prstGeom>
          <a:noFill/>
        </p:spPr>
        <p:txBody>
          <a:bodyPr wrap="square" lIns="91440" tIns="45720" rIns="91440" bIns="45720" rtlCol="0" anchor="t">
            <a:spAutoFit/>
          </a:bodyPr>
          <a:lstStyle/>
          <a:p>
            <a:pPr algn="ctr">
              <a:lnSpc>
                <a:spcPct val="100000"/>
              </a:lnSpc>
            </a:pPr>
            <a:r>
              <a:rPr lang="en-US" sz="7200" dirty="0">
                <a:solidFill>
                  <a:srgbClr val="FFFFFF"/>
                </a:solidFill>
                <a:latin typeface="MiSans" pitchFamily="34" charset="-122"/>
                <a:ea typeface="MiSans" pitchFamily="34" charset="-122"/>
                <a:cs typeface="MiSans" pitchFamily="34" charset="-120"/>
              </a:rPr>
              <a:t>03</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292735" y="295275"/>
            <a:ext cx="558800" cy="558800"/>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317" y="4511040"/>
            <a:ext cx="12219305" cy="2346960"/>
          </a:xfrm>
          <a:prstGeom prst="rect">
            <a:avLst/>
          </a:prstGeom>
          <a:solidFill>
            <a:srgbClr val="533D78"/>
          </a:solidFill>
        </p:spPr>
      </p:sp>
      <p:sp>
        <p:nvSpPr>
          <p:cNvPr id="5" name="Text 3"/>
          <p:cNvSpPr/>
          <p:nvPr/>
        </p:nvSpPr>
        <p:spPr>
          <a:xfrm>
            <a:off x="-317" y="4511040"/>
            <a:ext cx="12219305" cy="2346960"/>
          </a:xfrm>
          <a:prstGeom prst="rect">
            <a:avLst/>
          </a:prstGeom>
          <a:noFill/>
        </p:spPr>
        <p:txBody>
          <a:bodyPr wrap="square" lIns="45720" tIns="91440" rIns="91440" bIns="45720" rtlCol="0" anchor="ctr"/>
          <a:lstStyle/>
          <a:p>
            <a:pPr>
              <a:lnSpc>
                <a:spcPct val="100000"/>
              </a:lnSpc>
            </a:pPr>
            <a:endParaRPr lang="en-US" sz="1600" dirty="0"/>
          </a:p>
        </p:txBody>
      </p:sp>
      <p:sp>
        <p:nvSpPr>
          <p:cNvPr id="6" name="Shape 4"/>
          <p:cNvSpPr/>
          <p:nvPr/>
        </p:nvSpPr>
        <p:spPr>
          <a:xfrm>
            <a:off x="868680" y="1624330"/>
            <a:ext cx="2629535" cy="4161155"/>
          </a:xfrm>
          <a:prstGeom prst="roundRect">
            <a:avLst>
              <a:gd name="adj" fmla="val 6809"/>
            </a:avLst>
          </a:prstGeom>
          <a:solidFill>
            <a:srgbClr val="FFFFFF"/>
          </a:solidFill>
          <a:ln w="19050">
            <a:gradFill flip="none" rotWithShape="1">
              <a:gsLst>
                <a:gs pos="0">
                  <a:srgbClr val="BC7DB7"/>
                </a:gs>
                <a:gs pos="100000">
                  <a:srgbClr val="AF9DCD"/>
                </a:gs>
              </a:gsLst>
              <a:lin ang="2700000" scaled="1"/>
            </a:gradFill>
            <a:prstDash val="solid"/>
          </a:ln>
          <a:effectLst>
            <a:outerShdw blurRad="50800" dist="26941" dir="2700000" algn="bl" rotWithShape="0">
              <a:srgbClr val="30225F">
                <a:alpha val="40000"/>
              </a:srgbClr>
            </a:outerShdw>
          </a:effectLst>
        </p:spPr>
      </p:sp>
      <p:sp>
        <p:nvSpPr>
          <p:cNvPr id="7" name="Text 5"/>
          <p:cNvSpPr/>
          <p:nvPr/>
        </p:nvSpPr>
        <p:spPr>
          <a:xfrm>
            <a:off x="868680" y="1624330"/>
            <a:ext cx="2629535" cy="4161155"/>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6"/>
          <p:cNvSpPr/>
          <p:nvPr/>
        </p:nvSpPr>
        <p:spPr>
          <a:xfrm>
            <a:off x="3603625" y="1624330"/>
            <a:ext cx="2629535" cy="4161155"/>
          </a:xfrm>
          <a:prstGeom prst="roundRect">
            <a:avLst>
              <a:gd name="adj" fmla="val 6809"/>
            </a:avLst>
          </a:prstGeom>
          <a:solidFill>
            <a:srgbClr val="FFFFFF"/>
          </a:solidFill>
          <a:ln w="19050">
            <a:gradFill flip="none" rotWithShape="1">
              <a:gsLst>
                <a:gs pos="0">
                  <a:srgbClr val="BC7DB7"/>
                </a:gs>
                <a:gs pos="100000">
                  <a:srgbClr val="AF9DCD"/>
                </a:gs>
              </a:gsLst>
              <a:lin ang="2700000" scaled="1"/>
            </a:gradFill>
            <a:prstDash val="solid"/>
          </a:ln>
          <a:effectLst>
            <a:outerShdw blurRad="50800" dist="26941" dir="2700000" algn="bl" rotWithShape="0">
              <a:srgbClr val="30225F">
                <a:alpha val="40000"/>
              </a:srgbClr>
            </a:outerShdw>
          </a:effectLst>
        </p:spPr>
      </p:sp>
      <p:sp>
        <p:nvSpPr>
          <p:cNvPr id="9" name="Text 7"/>
          <p:cNvSpPr/>
          <p:nvPr/>
        </p:nvSpPr>
        <p:spPr>
          <a:xfrm>
            <a:off x="3603625" y="1624330"/>
            <a:ext cx="2629535" cy="4161155"/>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8"/>
          <p:cNvSpPr/>
          <p:nvPr/>
        </p:nvSpPr>
        <p:spPr>
          <a:xfrm>
            <a:off x="6338570" y="1624330"/>
            <a:ext cx="2629535" cy="4161155"/>
          </a:xfrm>
          <a:prstGeom prst="roundRect">
            <a:avLst>
              <a:gd name="adj" fmla="val 6809"/>
            </a:avLst>
          </a:prstGeom>
          <a:solidFill>
            <a:srgbClr val="FFFFFF"/>
          </a:solidFill>
          <a:ln w="19050">
            <a:gradFill flip="none" rotWithShape="1">
              <a:gsLst>
                <a:gs pos="0">
                  <a:srgbClr val="BC7DB7"/>
                </a:gs>
                <a:gs pos="100000">
                  <a:srgbClr val="AF9DCD"/>
                </a:gs>
              </a:gsLst>
              <a:lin ang="2700000" scaled="1"/>
            </a:gradFill>
            <a:prstDash val="solid"/>
          </a:ln>
          <a:effectLst>
            <a:outerShdw blurRad="50800" dist="26941" dir="2700000" algn="bl" rotWithShape="0">
              <a:srgbClr val="30225F">
                <a:alpha val="40000"/>
              </a:srgbClr>
            </a:outerShdw>
          </a:effectLst>
        </p:spPr>
      </p:sp>
      <p:sp>
        <p:nvSpPr>
          <p:cNvPr id="11" name="Text 9"/>
          <p:cNvSpPr/>
          <p:nvPr/>
        </p:nvSpPr>
        <p:spPr>
          <a:xfrm>
            <a:off x="6338570" y="1624330"/>
            <a:ext cx="2629535" cy="4161155"/>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10"/>
          <p:cNvSpPr/>
          <p:nvPr/>
        </p:nvSpPr>
        <p:spPr>
          <a:xfrm>
            <a:off x="9073515" y="1624330"/>
            <a:ext cx="2629535" cy="4161155"/>
          </a:xfrm>
          <a:prstGeom prst="roundRect">
            <a:avLst>
              <a:gd name="adj" fmla="val 6809"/>
            </a:avLst>
          </a:prstGeom>
          <a:solidFill>
            <a:srgbClr val="FFFFFF"/>
          </a:solidFill>
          <a:ln w="19050">
            <a:gradFill flip="none" rotWithShape="1">
              <a:gsLst>
                <a:gs pos="0">
                  <a:srgbClr val="BC7DB7"/>
                </a:gs>
                <a:gs pos="100000">
                  <a:srgbClr val="AF9DCD"/>
                </a:gs>
              </a:gsLst>
              <a:lin ang="2700000" scaled="1"/>
            </a:gradFill>
            <a:prstDash val="solid"/>
          </a:ln>
          <a:effectLst>
            <a:outerShdw blurRad="50800" dist="26941" dir="2700000" algn="bl" rotWithShape="0">
              <a:srgbClr val="30225F">
                <a:alpha val="40000"/>
              </a:srgbClr>
            </a:outerShdw>
          </a:effectLst>
        </p:spPr>
      </p:sp>
      <p:sp>
        <p:nvSpPr>
          <p:cNvPr id="13" name="Text 11"/>
          <p:cNvSpPr/>
          <p:nvPr/>
        </p:nvSpPr>
        <p:spPr>
          <a:xfrm>
            <a:off x="9073515" y="1624330"/>
            <a:ext cx="2629535" cy="4161155"/>
          </a:xfrm>
          <a:prstGeom prst="rect">
            <a:avLst/>
          </a:prstGeom>
          <a:noFill/>
        </p:spPr>
        <p:txBody>
          <a:bodyPr wrap="square" lIns="45720" tIns="91440" rIns="91440" bIns="45720" rtlCol="0" anchor="ctr"/>
          <a:lstStyle/>
          <a:p>
            <a:pPr>
              <a:lnSpc>
                <a:spcPct val="100000"/>
              </a:lnSpc>
            </a:pPr>
            <a:endParaRPr lang="en-US" sz="1600" dirty="0"/>
          </a:p>
        </p:txBody>
      </p:sp>
      <p:sp>
        <p:nvSpPr>
          <p:cNvPr id="14" name="Text 12"/>
          <p:cNvSpPr/>
          <p:nvPr/>
        </p:nvSpPr>
        <p:spPr>
          <a:xfrm>
            <a:off x="582930" y="454660"/>
            <a:ext cx="8682990" cy="499467"/>
          </a:xfrm>
          <a:prstGeom prst="rect">
            <a:avLst/>
          </a:prstGeom>
          <a:noFill/>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122"/>
                <a:ea typeface="MiSans" pitchFamily="34" charset="-122"/>
                <a:cs typeface="MiSans" pitchFamily="34" charset="-120"/>
              </a:rPr>
              <a:t>三、主要研究内容</a:t>
            </a:r>
            <a:endParaRPr lang="en-US" sz="1600" dirty="0"/>
          </a:p>
        </p:txBody>
      </p:sp>
      <p:sp>
        <p:nvSpPr>
          <p:cNvPr id="15" name="Text 13"/>
          <p:cNvSpPr/>
          <p:nvPr/>
        </p:nvSpPr>
        <p:spPr>
          <a:xfrm>
            <a:off x="956945" y="1890395"/>
            <a:ext cx="2386330" cy="645517"/>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402E7F"/>
                </a:solidFill>
                <a:latin typeface="MiSans" pitchFamily="34" charset="-122"/>
                <a:ea typeface="MiSans" pitchFamily="34" charset="-122"/>
                <a:cs typeface="MiSans" pitchFamily="34" charset="-120"/>
              </a:rPr>
              <a:t>校园垂直社交平台业务与架构设计</a:t>
            </a:r>
            <a:endParaRPr lang="en-US" sz="1600" dirty="0"/>
          </a:p>
        </p:txBody>
      </p:sp>
      <p:sp>
        <p:nvSpPr>
          <p:cNvPr id="16" name="Text 14"/>
          <p:cNvSpPr/>
          <p:nvPr/>
        </p:nvSpPr>
        <p:spPr>
          <a:xfrm>
            <a:off x="977265" y="2628900"/>
            <a:ext cx="2386330" cy="2865120"/>
          </a:xfrm>
          <a:prstGeom prst="rect">
            <a:avLst/>
          </a:prstGeom>
          <a:noFill/>
        </p:spPr>
        <p:txBody>
          <a:bodyPr wrap="square" lIns="91440" tIns="45720" rIns="91440" bIns="45720" rtlCol="0" anchor="t"/>
          <a:lstStyle/>
          <a:p>
            <a:pPr algn="just">
              <a:lnSpc>
                <a:spcPct val="110000"/>
              </a:lnSpc>
            </a:pPr>
            <a:r>
              <a:rPr lang="en-US" sz="1600" dirty="0">
                <a:solidFill>
                  <a:srgbClr val="1E1C0D"/>
                </a:solidFill>
                <a:latin typeface="MiSans" pitchFamily="34" charset="-122"/>
                <a:ea typeface="MiSans" pitchFamily="34" charset="-122"/>
                <a:cs typeface="MiSans" pitchFamily="34" charset="-120"/>
              </a:rPr>
              <a:t>研究并设计学生/组织双角色模型、认证体系与内容互动机制，构建高内聚低耦合的前后端分离系统架构。</a:t>
            </a:r>
            <a:endParaRPr lang="en-US" sz="1600" dirty="0"/>
          </a:p>
        </p:txBody>
      </p:sp>
      <p:sp>
        <p:nvSpPr>
          <p:cNvPr id="17" name="Text 15"/>
          <p:cNvSpPr/>
          <p:nvPr/>
        </p:nvSpPr>
        <p:spPr>
          <a:xfrm>
            <a:off x="3685540" y="1890395"/>
            <a:ext cx="2386330" cy="645517"/>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402E7F"/>
                </a:solidFill>
                <a:latin typeface="MiSans" pitchFamily="34" charset="-122"/>
                <a:ea typeface="MiSans" pitchFamily="34" charset="-122"/>
                <a:cs typeface="MiSans" pitchFamily="34" charset="-120"/>
              </a:rPr>
              <a:t>个性化推荐算法的实现与优化</a:t>
            </a:r>
            <a:endParaRPr lang="en-US" sz="1600" dirty="0"/>
          </a:p>
        </p:txBody>
      </p:sp>
      <p:sp>
        <p:nvSpPr>
          <p:cNvPr id="18" name="Text 16"/>
          <p:cNvSpPr/>
          <p:nvPr/>
        </p:nvSpPr>
        <p:spPr>
          <a:xfrm>
            <a:off x="3705860" y="2628900"/>
            <a:ext cx="2386330" cy="2865120"/>
          </a:xfrm>
          <a:prstGeom prst="rect">
            <a:avLst/>
          </a:prstGeom>
          <a:noFill/>
        </p:spPr>
        <p:txBody>
          <a:bodyPr wrap="square" lIns="91440" tIns="45720" rIns="91440" bIns="45720" rtlCol="0" anchor="t"/>
          <a:lstStyle/>
          <a:p>
            <a:pPr algn="just">
              <a:lnSpc>
                <a:spcPct val="110000"/>
              </a:lnSpc>
            </a:pPr>
            <a:r>
              <a:rPr lang="en-US" sz="1600" dirty="0">
                <a:solidFill>
                  <a:srgbClr val="1E1C0D"/>
                </a:solidFill>
                <a:latin typeface="MiSans" pitchFamily="34" charset="-122"/>
                <a:ea typeface="MiSans" pitchFamily="34" charset="-122"/>
                <a:cs typeface="MiSans" pitchFamily="34" charset="-120"/>
              </a:rPr>
              <a:t>研究并实现轻量级协同过滤算法，探索融合标签与行为的混合策略，缓解冷启动问题，评估优化算法效果。</a:t>
            </a:r>
            <a:endParaRPr lang="en-US" sz="1600" dirty="0"/>
          </a:p>
        </p:txBody>
      </p:sp>
      <p:sp>
        <p:nvSpPr>
          <p:cNvPr id="19" name="Text 17"/>
          <p:cNvSpPr/>
          <p:nvPr/>
        </p:nvSpPr>
        <p:spPr>
          <a:xfrm>
            <a:off x="6414135" y="1890395"/>
            <a:ext cx="2386330" cy="645517"/>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402E7F"/>
                </a:solidFill>
                <a:latin typeface="MiSans" pitchFamily="34" charset="-122"/>
                <a:ea typeface="MiSans" pitchFamily="34" charset="-122"/>
                <a:cs typeface="MiSans" pitchFamily="34" charset="-120"/>
              </a:rPr>
              <a:t>系统核心功能模块的工程实现</a:t>
            </a:r>
            <a:endParaRPr lang="en-US" sz="1600" dirty="0"/>
          </a:p>
        </p:txBody>
      </p:sp>
      <p:sp>
        <p:nvSpPr>
          <p:cNvPr id="20" name="Text 18"/>
          <p:cNvSpPr/>
          <p:nvPr/>
        </p:nvSpPr>
        <p:spPr>
          <a:xfrm>
            <a:off x="6434455" y="2628900"/>
            <a:ext cx="2386330" cy="2865120"/>
          </a:xfrm>
          <a:prstGeom prst="rect">
            <a:avLst/>
          </a:prstGeom>
          <a:noFill/>
        </p:spPr>
        <p:txBody>
          <a:bodyPr wrap="square" lIns="91440" tIns="45720" rIns="91440" bIns="45720" rtlCol="0" anchor="t"/>
          <a:lstStyle/>
          <a:p>
            <a:pPr algn="just">
              <a:lnSpc>
                <a:spcPct val="110000"/>
              </a:lnSpc>
            </a:pPr>
            <a:r>
              <a:rPr lang="en-US" sz="1600" dirty="0">
                <a:solidFill>
                  <a:srgbClr val="1E1C0D"/>
                </a:solidFill>
                <a:latin typeface="MiSans" pitchFamily="34" charset="-122"/>
                <a:ea typeface="MiSans" pitchFamily="34" charset="-122"/>
                <a:cs typeface="MiSans" pitchFamily="34" charset="-120"/>
              </a:rPr>
              <a:t>完成用户、内容、互动等核心模块的开发与集成，确保系统功能完整、稳定运行。</a:t>
            </a:r>
            <a:endParaRPr lang="en-US" sz="1600" dirty="0"/>
          </a:p>
        </p:txBody>
      </p:sp>
      <p:sp>
        <p:nvSpPr>
          <p:cNvPr id="21" name="Text 19"/>
          <p:cNvSpPr/>
          <p:nvPr/>
        </p:nvSpPr>
        <p:spPr>
          <a:xfrm>
            <a:off x="9142730" y="1890395"/>
            <a:ext cx="2386330" cy="645517"/>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402E7F"/>
                </a:solidFill>
                <a:latin typeface="MiSans" pitchFamily="34" charset="-122"/>
                <a:ea typeface="MiSans" pitchFamily="34" charset="-122"/>
                <a:cs typeface="MiSans" pitchFamily="34" charset="-120"/>
              </a:rPr>
              <a:t>轻量级AI辅助功能集成</a:t>
            </a:r>
            <a:endParaRPr lang="en-US" sz="1600" dirty="0"/>
          </a:p>
        </p:txBody>
      </p:sp>
      <p:sp>
        <p:nvSpPr>
          <p:cNvPr id="22" name="Text 20"/>
          <p:cNvSpPr/>
          <p:nvPr/>
        </p:nvSpPr>
        <p:spPr>
          <a:xfrm>
            <a:off x="9163050" y="2628900"/>
            <a:ext cx="2386330" cy="2865120"/>
          </a:xfrm>
          <a:prstGeom prst="rect">
            <a:avLst/>
          </a:prstGeom>
          <a:noFill/>
        </p:spPr>
        <p:txBody>
          <a:bodyPr wrap="square" lIns="91440" tIns="45720" rIns="91440" bIns="45720" rtlCol="0" anchor="t"/>
          <a:lstStyle/>
          <a:p>
            <a:pPr algn="just">
              <a:lnSpc>
                <a:spcPct val="110000"/>
              </a:lnSpc>
            </a:pPr>
            <a:r>
              <a:rPr lang="en-US" sz="1600" dirty="0">
                <a:solidFill>
                  <a:srgbClr val="1E1C0D"/>
                </a:solidFill>
                <a:latin typeface="MiSans" pitchFamily="34" charset="-122"/>
                <a:ea typeface="MiSans" pitchFamily="34" charset="-122"/>
                <a:cs typeface="MiSans" pitchFamily="34" charset="-120"/>
              </a:rPr>
              <a:t>集成开源NLP工具，实现文案辅助与违规内容过滤，提升平台智能化水平。</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p:spPr>
      </p:sp>
      <p:sp>
        <p:nvSpPr>
          <p:cNvPr id="5" name="Text 3"/>
          <p:cNvSpPr/>
          <p:nvPr/>
        </p:nvSpPr>
        <p:spPr>
          <a:xfrm>
            <a:off x="4445" y="0"/>
            <a:ext cx="12187555" cy="6875780"/>
          </a:xfrm>
          <a:prstGeom prst="rect">
            <a:avLst/>
          </a:prstGeom>
          <a:noFill/>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p:spPr>
      </p:sp>
      <p:sp>
        <p:nvSpPr>
          <p:cNvPr id="7" name="Text 5"/>
          <p:cNvSpPr/>
          <p:nvPr/>
        </p:nvSpPr>
        <p:spPr>
          <a:xfrm>
            <a:off x="85280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9" name="Text 7"/>
          <p:cNvSpPr/>
          <p:nvPr/>
        </p:nvSpPr>
        <p:spPr>
          <a:xfrm>
            <a:off x="113665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p:spPr>
      </p:sp>
      <p:sp>
        <p:nvSpPr>
          <p:cNvPr id="11" name="Text 9"/>
          <p:cNvSpPr/>
          <p:nvPr/>
        </p:nvSpPr>
        <p:spPr>
          <a:xfrm>
            <a:off x="142049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13" name="Text 11"/>
          <p:cNvSpPr/>
          <p:nvPr/>
        </p:nvSpPr>
        <p:spPr>
          <a:xfrm>
            <a:off x="170434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p:spPr>
      </p:sp>
      <p:sp>
        <p:nvSpPr>
          <p:cNvPr id="15" name="Text 13"/>
          <p:cNvSpPr/>
          <p:nvPr/>
        </p:nvSpPr>
        <p:spPr>
          <a:xfrm>
            <a:off x="198818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17" name="Text 15"/>
          <p:cNvSpPr/>
          <p:nvPr/>
        </p:nvSpPr>
        <p:spPr>
          <a:xfrm>
            <a:off x="227203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p:spPr>
      </p:sp>
      <p:sp>
        <p:nvSpPr>
          <p:cNvPr id="19" name="Text 17"/>
          <p:cNvSpPr/>
          <p:nvPr/>
        </p:nvSpPr>
        <p:spPr>
          <a:xfrm>
            <a:off x="11456035" y="38163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p:spPr>
      </p:sp>
      <p:sp>
        <p:nvSpPr>
          <p:cNvPr id="21" name="Text 19"/>
          <p:cNvSpPr/>
          <p:nvPr/>
        </p:nvSpPr>
        <p:spPr>
          <a:xfrm>
            <a:off x="11456035" y="501650"/>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p:spPr>
      </p:sp>
      <p:sp>
        <p:nvSpPr>
          <p:cNvPr id="23" name="Text 21"/>
          <p:cNvSpPr/>
          <p:nvPr/>
        </p:nvSpPr>
        <p:spPr>
          <a:xfrm>
            <a:off x="11456035" y="62166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sp>
      <p:sp>
        <p:nvSpPr>
          <p:cNvPr id="25" name="Shape 23"/>
          <p:cNvSpPr/>
          <p:nvPr/>
        </p:nvSpPr>
        <p:spPr>
          <a:xfrm>
            <a:off x="852805" y="6177280"/>
            <a:ext cx="259080" cy="259080"/>
          </a:xfrm>
          <a:prstGeom prst="ellipse">
            <a:avLst/>
          </a:prstGeom>
          <a:solidFill>
            <a:srgbClr val="FFFFFF"/>
          </a:solidFill>
        </p:spPr>
      </p:sp>
      <p:sp>
        <p:nvSpPr>
          <p:cNvPr id="26" name="Text 24"/>
          <p:cNvSpPr/>
          <p:nvPr/>
        </p:nvSpPr>
        <p:spPr>
          <a:xfrm>
            <a:off x="852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28" name="Text 26"/>
          <p:cNvSpPr/>
          <p:nvPr/>
        </p:nvSpPr>
        <p:spPr>
          <a:xfrm>
            <a:off x="979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9" name="Shape 27"/>
          <p:cNvSpPr/>
          <p:nvPr/>
        </p:nvSpPr>
        <p:spPr>
          <a:xfrm>
            <a:off x="1863725" y="2687320"/>
            <a:ext cx="8464550" cy="2306955"/>
          </a:xfrm>
          <a:prstGeom prst="rect">
            <a:avLst/>
          </a:prstGeom>
          <a:solidFill>
            <a:srgbClr val="000000">
              <a:alpha val="0"/>
            </a:srgbClr>
          </a:solidFill>
        </p:spPr>
      </p:sp>
      <p:sp>
        <p:nvSpPr>
          <p:cNvPr id="30" name="Text 28"/>
          <p:cNvSpPr/>
          <p:nvPr/>
        </p:nvSpPr>
        <p:spPr>
          <a:xfrm>
            <a:off x="1863725" y="2687320"/>
            <a:ext cx="8464550" cy="2306955"/>
          </a:xfrm>
          <a:prstGeom prst="rect">
            <a:avLst/>
          </a:prstGeom>
          <a:noFill/>
        </p:spPr>
        <p:txBody>
          <a:bodyPr wrap="square" lIns="45720" tIns="91440" rIns="91440" bIns="45720" rtlCol="0" anchor="t"/>
          <a:lstStyle/>
          <a:p>
            <a:pPr algn="ctr">
              <a:lnSpc>
                <a:spcPct val="100000"/>
              </a:lnSpc>
            </a:pPr>
            <a:r>
              <a:rPr lang="en-US" sz="7200" b="1" dirty="0">
                <a:solidFill>
                  <a:srgbClr val="FFFFFF"/>
                </a:solidFill>
                <a:latin typeface="MiSans" pitchFamily="34" charset="-122"/>
                <a:ea typeface="MiSans" pitchFamily="34" charset="-122"/>
                <a:cs typeface="MiSans" pitchFamily="34" charset="-120"/>
              </a:rPr>
              <a:t>研究思路与技术路线</a:t>
            </a:r>
            <a:endParaRPr lang="en-US" sz="1600" dirty="0"/>
          </a:p>
        </p:txBody>
      </p:sp>
      <p:sp>
        <p:nvSpPr>
          <p:cNvPr id="31" name="Text 29"/>
          <p:cNvSpPr/>
          <p:nvPr/>
        </p:nvSpPr>
        <p:spPr>
          <a:xfrm>
            <a:off x="2515235" y="1350010"/>
            <a:ext cx="7161530" cy="1104900"/>
          </a:xfrm>
          <a:prstGeom prst="rect">
            <a:avLst/>
          </a:prstGeom>
          <a:noFill/>
        </p:spPr>
        <p:txBody>
          <a:bodyPr wrap="square" lIns="91440" tIns="45720" rIns="91440" bIns="45720" rtlCol="0" anchor="t">
            <a:spAutoFit/>
          </a:bodyPr>
          <a:lstStyle/>
          <a:p>
            <a:pPr algn="ctr">
              <a:lnSpc>
                <a:spcPct val="100000"/>
              </a:lnSpc>
            </a:pPr>
            <a:r>
              <a:rPr lang="en-US" sz="7200" dirty="0">
                <a:solidFill>
                  <a:srgbClr val="FFFFFF"/>
                </a:solidFill>
                <a:latin typeface="MiSans" pitchFamily="34" charset="-122"/>
                <a:ea typeface="MiSans" pitchFamily="34" charset="-122"/>
                <a:cs typeface="MiSans" pitchFamily="34" charset="-120"/>
              </a:rPr>
              <a:t>04</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292735" y="295275"/>
            <a:ext cx="558800" cy="558800"/>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0" y="6028055"/>
            <a:ext cx="12212955" cy="829945"/>
          </a:xfrm>
          <a:prstGeom prst="rect">
            <a:avLst/>
          </a:prstGeom>
          <a:solidFill>
            <a:srgbClr val="402E7F"/>
          </a:solidFill>
        </p:spPr>
      </p:sp>
      <p:sp>
        <p:nvSpPr>
          <p:cNvPr id="5" name="Text 3"/>
          <p:cNvSpPr/>
          <p:nvPr/>
        </p:nvSpPr>
        <p:spPr>
          <a:xfrm>
            <a:off x="0" y="6028055"/>
            <a:ext cx="12212955" cy="829945"/>
          </a:xfrm>
          <a:prstGeom prst="rect">
            <a:avLst/>
          </a:prstGeom>
          <a:noFill/>
        </p:spPr>
        <p:txBody>
          <a:bodyPr wrap="square" lIns="45720" tIns="91440" rIns="91440" bIns="45720" rtlCol="0" anchor="ctr"/>
          <a:lstStyle/>
          <a:p>
            <a:pPr>
              <a:lnSpc>
                <a:spcPct val="100000"/>
              </a:lnSpc>
            </a:pPr>
            <a:endParaRPr lang="en-US" sz="1600" dirty="0"/>
          </a:p>
        </p:txBody>
      </p:sp>
      <p:sp>
        <p:nvSpPr>
          <p:cNvPr id="6" name="Text 4"/>
          <p:cNvSpPr/>
          <p:nvPr/>
        </p:nvSpPr>
        <p:spPr>
          <a:xfrm>
            <a:off x="427990" y="454025"/>
            <a:ext cx="10151745" cy="499467"/>
          </a:xfrm>
          <a:prstGeom prst="rect">
            <a:avLst/>
          </a:prstGeom>
          <a:noFill/>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122"/>
                <a:ea typeface="MiSans" pitchFamily="34" charset="-122"/>
                <a:cs typeface="MiSans" pitchFamily="34" charset="-120"/>
              </a:rPr>
              <a:t>四、研究思路与技术路线</a:t>
            </a:r>
            <a:endParaRPr lang="en-US" sz="1600" dirty="0"/>
          </a:p>
        </p:txBody>
      </p:sp>
      <p:sp>
        <p:nvSpPr>
          <p:cNvPr id="7" name="Shape 5"/>
          <p:cNvSpPr/>
          <p:nvPr/>
        </p:nvSpPr>
        <p:spPr>
          <a:xfrm>
            <a:off x="781050" y="1346835"/>
            <a:ext cx="4958080" cy="4360545"/>
          </a:xfrm>
          <a:prstGeom prst="roundRect">
            <a:avLst>
              <a:gd name="adj" fmla="val 3153"/>
            </a:avLst>
          </a:prstGeom>
          <a:solidFill>
            <a:srgbClr val="FFFFFF"/>
          </a:solidFill>
          <a:ln w="19050">
            <a:solidFill>
              <a:srgbClr val="402E7F"/>
            </a:solidFill>
            <a:prstDash val="solid"/>
          </a:ln>
        </p:spPr>
      </p:sp>
      <p:sp>
        <p:nvSpPr>
          <p:cNvPr id="8" name="Text 6"/>
          <p:cNvSpPr/>
          <p:nvPr/>
        </p:nvSpPr>
        <p:spPr>
          <a:xfrm>
            <a:off x="781050" y="1346835"/>
            <a:ext cx="4958080" cy="4360545"/>
          </a:xfrm>
          <a:prstGeom prst="rect">
            <a:avLst/>
          </a:prstGeom>
          <a:noFill/>
        </p:spPr>
        <p:txBody>
          <a:bodyPr wrap="square" lIns="45720" tIns="91440" rIns="91440" bIns="45720" rtlCol="0" anchor="ctr"/>
          <a:lstStyle/>
          <a:p>
            <a:pPr>
              <a:lnSpc>
                <a:spcPct val="100000"/>
              </a:lnSpc>
            </a:pPr>
            <a:endParaRPr lang="en-US" sz="1600" dirty="0"/>
          </a:p>
        </p:txBody>
      </p:sp>
      <p:sp>
        <p:nvSpPr>
          <p:cNvPr id="9" name="Shape 7"/>
          <p:cNvSpPr/>
          <p:nvPr/>
        </p:nvSpPr>
        <p:spPr>
          <a:xfrm rot="16200000">
            <a:off x="936625" y="1374775"/>
            <a:ext cx="1061085" cy="1005205"/>
          </a:xfrm>
          <a:custGeom>
            <a:avLst/>
            <a:gdLst/>
            <a:ahLst/>
            <a:cxnLst/>
            <a:rect l="l" t="t" r="r" b="b"/>
            <a:pathLst>
              <a:path w="1061085" h="1005205">
                <a:moveTo>
                  <a:pt x="0" y="251460"/>
                </a:moveTo>
                <a:lnTo>
                  <a:pt x="1052195" y="251460"/>
                </a:lnTo>
                <a:lnTo>
                  <a:pt x="1052195" y="0"/>
                </a:lnTo>
                <a:lnTo>
                  <a:pt x="1061085" y="8890"/>
                </a:lnTo>
                <a:lnTo>
                  <a:pt x="1061085" y="996315"/>
                </a:lnTo>
                <a:lnTo>
                  <a:pt x="1052195" y="1005205"/>
                </a:lnTo>
                <a:lnTo>
                  <a:pt x="1052195" y="753745"/>
                </a:lnTo>
                <a:lnTo>
                  <a:pt x="0" y="753745"/>
                </a:lnTo>
                <a:lnTo>
                  <a:pt x="251460" y="502920"/>
                </a:lnTo>
                <a:lnTo>
                  <a:pt x="0" y="251460"/>
                </a:lnTo>
                <a:close/>
              </a:path>
            </a:pathLst>
          </a:custGeom>
          <a:solidFill>
            <a:srgbClr val="402E7F"/>
          </a:solidFill>
        </p:spPr>
      </p:sp>
      <p:sp>
        <p:nvSpPr>
          <p:cNvPr id="10" name="Text 8"/>
          <p:cNvSpPr/>
          <p:nvPr/>
        </p:nvSpPr>
        <p:spPr>
          <a:xfrm rot="16200000">
            <a:off x="936625" y="1374775"/>
            <a:ext cx="1061085" cy="1005205"/>
          </a:xfrm>
          <a:prstGeom prst="rect">
            <a:avLst/>
          </a:prstGeom>
          <a:noFill/>
        </p:spPr>
        <p:txBody>
          <a:bodyPr wrap="square" lIns="45720" tIns="91440" rIns="91440" bIns="45720" rtlCol="0" anchor="ctr"/>
          <a:lstStyle/>
          <a:p>
            <a:pPr>
              <a:lnSpc>
                <a:spcPct val="100000"/>
              </a:lnSpc>
            </a:pPr>
            <a:endParaRPr lang="en-US" sz="1600" dirty="0"/>
          </a:p>
        </p:txBody>
      </p:sp>
      <p:sp>
        <p:nvSpPr>
          <p:cNvPr id="11" name="Shape 9"/>
          <p:cNvSpPr/>
          <p:nvPr/>
        </p:nvSpPr>
        <p:spPr>
          <a:xfrm>
            <a:off x="6181090" y="1346835"/>
            <a:ext cx="4958080" cy="4360545"/>
          </a:xfrm>
          <a:prstGeom prst="roundRect">
            <a:avLst>
              <a:gd name="adj" fmla="val 3153"/>
            </a:avLst>
          </a:prstGeom>
          <a:solidFill>
            <a:srgbClr val="FFFFFF"/>
          </a:solidFill>
          <a:ln w="19050">
            <a:solidFill>
              <a:srgbClr val="402E7F"/>
            </a:solidFill>
            <a:prstDash val="solid"/>
          </a:ln>
        </p:spPr>
      </p:sp>
      <p:sp>
        <p:nvSpPr>
          <p:cNvPr id="12" name="Text 10"/>
          <p:cNvSpPr/>
          <p:nvPr/>
        </p:nvSpPr>
        <p:spPr>
          <a:xfrm>
            <a:off x="6181090" y="1346835"/>
            <a:ext cx="4958080" cy="4360545"/>
          </a:xfrm>
          <a:prstGeom prst="rect">
            <a:avLst/>
          </a:prstGeom>
          <a:noFill/>
        </p:spPr>
        <p:txBody>
          <a:bodyPr wrap="square" lIns="45720" tIns="91440" rIns="91440" bIns="45720" rtlCol="0" anchor="ctr"/>
          <a:lstStyle/>
          <a:p>
            <a:pPr>
              <a:lnSpc>
                <a:spcPct val="100000"/>
              </a:lnSpc>
            </a:pPr>
            <a:endParaRPr lang="en-US" sz="1600" dirty="0"/>
          </a:p>
        </p:txBody>
      </p:sp>
      <p:sp>
        <p:nvSpPr>
          <p:cNvPr id="13" name="Shape 11"/>
          <p:cNvSpPr/>
          <p:nvPr/>
        </p:nvSpPr>
        <p:spPr>
          <a:xfrm rot="16200000">
            <a:off x="6336665" y="1374775"/>
            <a:ext cx="1061085" cy="1005205"/>
          </a:xfrm>
          <a:custGeom>
            <a:avLst/>
            <a:gdLst/>
            <a:ahLst/>
            <a:cxnLst/>
            <a:rect l="l" t="t" r="r" b="b"/>
            <a:pathLst>
              <a:path w="1061085" h="1005205">
                <a:moveTo>
                  <a:pt x="0" y="251460"/>
                </a:moveTo>
                <a:lnTo>
                  <a:pt x="1052195" y="251460"/>
                </a:lnTo>
                <a:lnTo>
                  <a:pt x="1052195" y="0"/>
                </a:lnTo>
                <a:lnTo>
                  <a:pt x="1061085" y="8890"/>
                </a:lnTo>
                <a:lnTo>
                  <a:pt x="1061085" y="996315"/>
                </a:lnTo>
                <a:lnTo>
                  <a:pt x="1052195" y="1005205"/>
                </a:lnTo>
                <a:lnTo>
                  <a:pt x="1052195" y="753745"/>
                </a:lnTo>
                <a:lnTo>
                  <a:pt x="0" y="753745"/>
                </a:lnTo>
                <a:lnTo>
                  <a:pt x="251460" y="502920"/>
                </a:lnTo>
                <a:lnTo>
                  <a:pt x="0" y="251460"/>
                </a:lnTo>
                <a:close/>
              </a:path>
            </a:pathLst>
          </a:custGeom>
          <a:solidFill>
            <a:srgbClr val="402E7F"/>
          </a:solidFill>
        </p:spPr>
      </p:sp>
      <p:sp>
        <p:nvSpPr>
          <p:cNvPr id="14" name="Text 12"/>
          <p:cNvSpPr/>
          <p:nvPr/>
        </p:nvSpPr>
        <p:spPr>
          <a:xfrm rot="16200000">
            <a:off x="6336665" y="1374775"/>
            <a:ext cx="1061085" cy="1005205"/>
          </a:xfrm>
          <a:prstGeom prst="rect">
            <a:avLst/>
          </a:prstGeom>
          <a:noFill/>
        </p:spPr>
        <p:txBody>
          <a:bodyPr wrap="square" lIns="45720" tIns="91440" rIns="91440" bIns="45720" rtlCol="0" anchor="ctr"/>
          <a:lstStyle/>
          <a:p>
            <a:pPr>
              <a:lnSpc>
                <a:spcPct val="100000"/>
              </a:lnSpc>
            </a:pPr>
            <a:endParaRPr lang="en-US" sz="1600" dirty="0"/>
          </a:p>
        </p:txBody>
      </p:sp>
      <p:sp>
        <p:nvSpPr>
          <p:cNvPr id="15" name="Text 13"/>
          <p:cNvSpPr/>
          <p:nvPr/>
        </p:nvSpPr>
        <p:spPr>
          <a:xfrm>
            <a:off x="1727200" y="1641475"/>
            <a:ext cx="3681730"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402E7F"/>
                </a:solidFill>
                <a:latin typeface="MiSans" pitchFamily="34" charset="-122"/>
                <a:ea typeface="MiSans" pitchFamily="34" charset="-122"/>
                <a:cs typeface="MiSans" pitchFamily="34" charset="-120"/>
              </a:rPr>
              <a:t>总体架构图</a:t>
            </a:r>
            <a:endParaRPr lang="en-US" sz="1600" dirty="0"/>
          </a:p>
        </p:txBody>
      </p:sp>
      <p:sp>
        <p:nvSpPr>
          <p:cNvPr id="16" name="Text 14"/>
          <p:cNvSpPr/>
          <p:nvPr/>
        </p:nvSpPr>
        <p:spPr>
          <a:xfrm>
            <a:off x="1129665" y="2572385"/>
            <a:ext cx="4279265" cy="2956560"/>
          </a:xfrm>
          <a:prstGeom prst="rect">
            <a:avLst/>
          </a:prstGeom>
          <a:noFill/>
        </p:spPr>
        <p:txBody>
          <a:bodyPr wrap="square" lIns="91440" tIns="45720" rIns="91440" bIns="45720" rtlCol="0" anchor="t"/>
          <a:lstStyle/>
          <a:p>
            <a:pPr algn="just">
              <a:lnSpc>
                <a:spcPct val="130000"/>
              </a:lnSpc>
            </a:pPr>
            <a:r>
              <a:rPr lang="en-US" sz="2000" dirty="0">
                <a:solidFill>
                  <a:srgbClr val="1E1C0D"/>
                </a:solidFill>
                <a:latin typeface="MiSans" pitchFamily="34" charset="-122"/>
                <a:ea typeface="MiSans" pitchFamily="34" charset="-122"/>
                <a:cs typeface="MiSans" pitchFamily="34" charset="-120"/>
              </a:rPr>
              <a:t>前端Vue.js与Element UI通过HTTP API与后端Spring Boot交互，后端连接MySQL与Redis，调用Python微服务实现协同过滤与NLP功能。</a:t>
            </a:r>
            <a:endParaRPr lang="en-US" sz="1600" dirty="0"/>
          </a:p>
        </p:txBody>
      </p:sp>
      <p:sp>
        <p:nvSpPr>
          <p:cNvPr id="17" name="Text 15"/>
          <p:cNvSpPr/>
          <p:nvPr/>
        </p:nvSpPr>
        <p:spPr>
          <a:xfrm>
            <a:off x="7127240" y="1641475"/>
            <a:ext cx="3681730"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402E7F"/>
                </a:solidFill>
                <a:latin typeface="MiSans" pitchFamily="34" charset="-122"/>
                <a:ea typeface="MiSans" pitchFamily="34" charset="-122"/>
                <a:cs typeface="MiSans" pitchFamily="34" charset="-120"/>
              </a:rPr>
              <a:t>技术栈与研究方法</a:t>
            </a:r>
            <a:endParaRPr lang="en-US" sz="1600" dirty="0"/>
          </a:p>
        </p:txBody>
      </p:sp>
      <p:sp>
        <p:nvSpPr>
          <p:cNvPr id="18" name="Text 16"/>
          <p:cNvSpPr/>
          <p:nvPr/>
        </p:nvSpPr>
        <p:spPr>
          <a:xfrm>
            <a:off x="6529705" y="2572385"/>
            <a:ext cx="4279265" cy="2956560"/>
          </a:xfrm>
          <a:prstGeom prst="rect">
            <a:avLst/>
          </a:prstGeom>
          <a:noFill/>
        </p:spPr>
        <p:txBody>
          <a:bodyPr wrap="square" lIns="91440" tIns="45720" rIns="91440" bIns="45720" rtlCol="0" anchor="t"/>
          <a:lstStyle/>
          <a:p>
            <a:pPr algn="just">
              <a:lnSpc>
                <a:spcPct val="130000"/>
              </a:lnSpc>
            </a:pPr>
            <a:r>
              <a:rPr lang="en-US" sz="2000" dirty="0">
                <a:solidFill>
                  <a:srgbClr val="1E1C0D"/>
                </a:solidFill>
                <a:latin typeface="MiSans" pitchFamily="34" charset="-122"/>
                <a:ea typeface="MiSans" pitchFamily="34" charset="-122"/>
                <a:cs typeface="MiSans" pitchFamily="34" charset="-120"/>
              </a:rPr>
              <a:t>技术栈涵盖Java、Spring Boot、MyBatis-Plus、RESTful API、Vue.js、MySQL、Redis、Scikit-learn及Hugging Face；研究方法结合文献研究法、原型法与实证研究法。</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p:spPr>
      </p:sp>
      <p:sp>
        <p:nvSpPr>
          <p:cNvPr id="5" name="Text 3"/>
          <p:cNvSpPr/>
          <p:nvPr/>
        </p:nvSpPr>
        <p:spPr>
          <a:xfrm>
            <a:off x="4445" y="0"/>
            <a:ext cx="12187555" cy="6875780"/>
          </a:xfrm>
          <a:prstGeom prst="rect">
            <a:avLst/>
          </a:prstGeom>
          <a:noFill/>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p:spPr>
      </p:sp>
      <p:sp>
        <p:nvSpPr>
          <p:cNvPr id="7" name="Text 5"/>
          <p:cNvSpPr/>
          <p:nvPr/>
        </p:nvSpPr>
        <p:spPr>
          <a:xfrm>
            <a:off x="85280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9" name="Text 7"/>
          <p:cNvSpPr/>
          <p:nvPr/>
        </p:nvSpPr>
        <p:spPr>
          <a:xfrm>
            <a:off x="113665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p:spPr>
      </p:sp>
      <p:sp>
        <p:nvSpPr>
          <p:cNvPr id="11" name="Text 9"/>
          <p:cNvSpPr/>
          <p:nvPr/>
        </p:nvSpPr>
        <p:spPr>
          <a:xfrm>
            <a:off x="142049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13" name="Text 11"/>
          <p:cNvSpPr/>
          <p:nvPr/>
        </p:nvSpPr>
        <p:spPr>
          <a:xfrm>
            <a:off x="170434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p:spPr>
      </p:sp>
      <p:sp>
        <p:nvSpPr>
          <p:cNvPr id="15" name="Text 13"/>
          <p:cNvSpPr/>
          <p:nvPr/>
        </p:nvSpPr>
        <p:spPr>
          <a:xfrm>
            <a:off x="198818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17" name="Text 15"/>
          <p:cNvSpPr/>
          <p:nvPr/>
        </p:nvSpPr>
        <p:spPr>
          <a:xfrm>
            <a:off x="227203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p:spPr>
      </p:sp>
      <p:sp>
        <p:nvSpPr>
          <p:cNvPr id="19" name="Text 17"/>
          <p:cNvSpPr/>
          <p:nvPr/>
        </p:nvSpPr>
        <p:spPr>
          <a:xfrm>
            <a:off x="11456035" y="38163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p:spPr>
      </p:sp>
      <p:sp>
        <p:nvSpPr>
          <p:cNvPr id="21" name="Text 19"/>
          <p:cNvSpPr/>
          <p:nvPr/>
        </p:nvSpPr>
        <p:spPr>
          <a:xfrm>
            <a:off x="11456035" y="501650"/>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p:spPr>
      </p:sp>
      <p:sp>
        <p:nvSpPr>
          <p:cNvPr id="23" name="Text 21"/>
          <p:cNvSpPr/>
          <p:nvPr/>
        </p:nvSpPr>
        <p:spPr>
          <a:xfrm>
            <a:off x="11456035" y="62166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sp>
      <p:sp>
        <p:nvSpPr>
          <p:cNvPr id="25" name="Shape 23"/>
          <p:cNvSpPr/>
          <p:nvPr/>
        </p:nvSpPr>
        <p:spPr>
          <a:xfrm>
            <a:off x="852805" y="6177280"/>
            <a:ext cx="259080" cy="259080"/>
          </a:xfrm>
          <a:prstGeom prst="ellipse">
            <a:avLst/>
          </a:prstGeom>
          <a:solidFill>
            <a:srgbClr val="FFFFFF"/>
          </a:solidFill>
        </p:spPr>
      </p:sp>
      <p:sp>
        <p:nvSpPr>
          <p:cNvPr id="26" name="Text 24"/>
          <p:cNvSpPr/>
          <p:nvPr/>
        </p:nvSpPr>
        <p:spPr>
          <a:xfrm>
            <a:off x="852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28" name="Text 26"/>
          <p:cNvSpPr/>
          <p:nvPr/>
        </p:nvSpPr>
        <p:spPr>
          <a:xfrm>
            <a:off x="979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9" name="Shape 27"/>
          <p:cNvSpPr/>
          <p:nvPr/>
        </p:nvSpPr>
        <p:spPr>
          <a:xfrm>
            <a:off x="1863725" y="2687320"/>
            <a:ext cx="8464550" cy="2306955"/>
          </a:xfrm>
          <a:prstGeom prst="rect">
            <a:avLst/>
          </a:prstGeom>
          <a:solidFill>
            <a:srgbClr val="000000">
              <a:alpha val="0"/>
            </a:srgbClr>
          </a:solidFill>
        </p:spPr>
      </p:sp>
      <p:sp>
        <p:nvSpPr>
          <p:cNvPr id="30" name="Text 28"/>
          <p:cNvSpPr/>
          <p:nvPr/>
        </p:nvSpPr>
        <p:spPr>
          <a:xfrm>
            <a:off x="1863725" y="2687320"/>
            <a:ext cx="8464550" cy="2306955"/>
          </a:xfrm>
          <a:prstGeom prst="rect">
            <a:avLst/>
          </a:prstGeom>
          <a:noFill/>
        </p:spPr>
        <p:txBody>
          <a:bodyPr wrap="square" lIns="45720" tIns="91440" rIns="91440" bIns="45720" rtlCol="0" anchor="t"/>
          <a:lstStyle/>
          <a:p>
            <a:pPr algn="ctr">
              <a:lnSpc>
                <a:spcPct val="100000"/>
              </a:lnSpc>
            </a:pPr>
            <a:r>
              <a:rPr lang="en-US" sz="7200" b="1" dirty="0">
                <a:solidFill>
                  <a:srgbClr val="FFFFFF"/>
                </a:solidFill>
                <a:latin typeface="MiSans" pitchFamily="34" charset="-122"/>
                <a:ea typeface="MiSans" pitchFamily="34" charset="-122"/>
                <a:cs typeface="MiSans" pitchFamily="34" charset="-120"/>
              </a:rPr>
              <a:t>工作安排与进度</a:t>
            </a:r>
            <a:endParaRPr lang="en-US" sz="1600" dirty="0"/>
          </a:p>
        </p:txBody>
      </p:sp>
      <p:sp>
        <p:nvSpPr>
          <p:cNvPr id="31" name="Text 29"/>
          <p:cNvSpPr/>
          <p:nvPr/>
        </p:nvSpPr>
        <p:spPr>
          <a:xfrm>
            <a:off x="2515235" y="1350010"/>
            <a:ext cx="7161530" cy="1104900"/>
          </a:xfrm>
          <a:prstGeom prst="rect">
            <a:avLst/>
          </a:prstGeom>
          <a:noFill/>
        </p:spPr>
        <p:txBody>
          <a:bodyPr wrap="square" lIns="91440" tIns="45720" rIns="91440" bIns="45720" rtlCol="0" anchor="t">
            <a:spAutoFit/>
          </a:bodyPr>
          <a:lstStyle/>
          <a:p>
            <a:pPr algn="ctr">
              <a:lnSpc>
                <a:spcPct val="100000"/>
              </a:lnSpc>
            </a:pPr>
            <a:r>
              <a:rPr lang="en-US" sz="7200" dirty="0">
                <a:solidFill>
                  <a:srgbClr val="FFFFFF"/>
                </a:solidFill>
                <a:latin typeface="MiSans" pitchFamily="34" charset="-122"/>
                <a:ea typeface="MiSans" pitchFamily="34" charset="-122"/>
                <a:cs typeface="MiSans" pitchFamily="34" charset="-120"/>
              </a:rPr>
              <a:t>05</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Text 2"/>
          <p:cNvSpPr/>
          <p:nvPr/>
        </p:nvSpPr>
        <p:spPr>
          <a:xfrm>
            <a:off x="582930" y="455295"/>
            <a:ext cx="10151745" cy="499467"/>
          </a:xfrm>
          <a:prstGeom prst="rect">
            <a:avLst/>
          </a:prstGeom>
          <a:noFill/>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122"/>
                <a:ea typeface="MiSans" pitchFamily="34" charset="-122"/>
                <a:cs typeface="MiSans" pitchFamily="34" charset="-120"/>
              </a:rPr>
              <a:t>五、工作安排与进度</a:t>
            </a:r>
            <a:endParaRPr lang="en-US" sz="1600" dirty="0"/>
          </a:p>
        </p:txBody>
      </p:sp>
      <p:sp>
        <p:nvSpPr>
          <p:cNvPr id="5" name="Shape 3"/>
          <p:cNvSpPr/>
          <p:nvPr/>
        </p:nvSpPr>
        <p:spPr>
          <a:xfrm rot="16200000" flipH="1" flipV="1">
            <a:off x="702310" y="1273175"/>
            <a:ext cx="1284605" cy="1250315"/>
          </a:xfrm>
          <a:prstGeom prst="round2DiagRect">
            <a:avLst>
              <a:gd name="adj1" fmla="val 0"/>
              <a:gd name="adj2" fmla="val 0"/>
            </a:avLst>
          </a:prstGeom>
          <a:solidFill>
            <a:srgbClr val="402E7F"/>
          </a:solidFill>
        </p:spPr>
      </p:sp>
      <p:sp>
        <p:nvSpPr>
          <p:cNvPr id="6" name="Text 4"/>
          <p:cNvSpPr/>
          <p:nvPr/>
        </p:nvSpPr>
        <p:spPr>
          <a:xfrm rot="16200000">
            <a:off x="702310" y="1273175"/>
            <a:ext cx="1284605" cy="1250315"/>
          </a:xfrm>
          <a:prstGeom prst="rect">
            <a:avLst/>
          </a:prstGeom>
          <a:noFill/>
        </p:spPr>
        <p:txBody>
          <a:bodyPr wrap="square" lIns="45720" tIns="91440" rIns="91440" bIns="45720" rtlCol="0" anchor="ctr"/>
          <a:lstStyle/>
          <a:p>
            <a:pPr>
              <a:lnSpc>
                <a:spcPct val="100000"/>
              </a:lnSpc>
            </a:pPr>
            <a:endParaRPr lang="en-US" sz="1600" dirty="0"/>
          </a:p>
        </p:txBody>
      </p:sp>
      <p:pic>
        <p:nvPicPr>
          <p:cNvPr id="7" name="Image 0" descr="https://test-kimi-img.moonshot.cn/pub/slides/slides_tmpl/image/25-08-11-17:38:59-d2crkcv0ctitcgma2ia0.png"/>
          <p:cNvPicPr>
            <a:picLocks noChangeAspect="1"/>
          </p:cNvPicPr>
          <p:nvPr/>
        </p:nvPicPr>
        <p:blipFill>
          <a:blip r:embed="rId1"/>
          <a:srcRect l="16" r="16"/>
          <a:stretch>
            <a:fillRect/>
          </a:stretch>
        </p:blipFill>
        <p:spPr>
          <a:xfrm>
            <a:off x="1115695" y="1621790"/>
            <a:ext cx="3937000" cy="4631690"/>
          </a:xfrm>
          <a:prstGeom prst="rect">
            <a:avLst/>
          </a:prstGeom>
        </p:spPr>
      </p:pic>
      <p:pic>
        <p:nvPicPr>
          <p:cNvPr id="8" name="Image 1" descr="https://test-kimi-img.moonshot.cn/pub/slides/slides_tmpl/image/25-08-11-17:38:59-d2crkcv0ctitcgma2i90.png"/>
          <p:cNvPicPr>
            <a:picLocks noChangeAspect="1"/>
          </p:cNvPicPr>
          <p:nvPr/>
        </p:nvPicPr>
        <p:blipFill>
          <a:blip r:embed="rId2"/>
          <a:srcRect l="39" r="39"/>
          <a:stretch>
            <a:fillRect/>
          </a:stretch>
        </p:blipFill>
        <p:spPr>
          <a:xfrm>
            <a:off x="5186045" y="4615815"/>
            <a:ext cx="2921000" cy="1637665"/>
          </a:xfrm>
          <a:prstGeom prst="rect">
            <a:avLst/>
          </a:prstGeom>
        </p:spPr>
      </p:pic>
      <p:pic>
        <p:nvPicPr>
          <p:cNvPr id="9" name="Image 2" descr="https://test-kimi-img.moonshot.cn/pub/slides/slides_tmpl/image/25-08-11-17:38:59-d2crkcv0ctitcgma2i9g.png"/>
          <p:cNvPicPr>
            <a:picLocks noChangeAspect="1"/>
          </p:cNvPicPr>
          <p:nvPr/>
        </p:nvPicPr>
        <p:blipFill>
          <a:blip r:embed="rId3"/>
          <a:srcRect l="39" r="39"/>
          <a:stretch>
            <a:fillRect/>
          </a:stretch>
        </p:blipFill>
        <p:spPr>
          <a:xfrm>
            <a:off x="8240395" y="4615815"/>
            <a:ext cx="2921000" cy="1637665"/>
          </a:xfrm>
          <a:prstGeom prst="rect">
            <a:avLst/>
          </a:prstGeom>
        </p:spPr>
      </p:pic>
      <p:sp>
        <p:nvSpPr>
          <p:cNvPr id="10" name="Text 5"/>
          <p:cNvSpPr/>
          <p:nvPr/>
        </p:nvSpPr>
        <p:spPr>
          <a:xfrm>
            <a:off x="5281295" y="1621790"/>
            <a:ext cx="5909602" cy="429617"/>
          </a:xfrm>
          <a:prstGeom prst="rect">
            <a:avLst/>
          </a:prstGeom>
          <a:noFill/>
        </p:spPr>
        <p:txBody>
          <a:bodyPr wrap="square" lIns="91440" tIns="45720" rIns="91440" bIns="45720" rtlCol="0" anchor="t">
            <a:spAutoFit/>
          </a:bodyPr>
          <a:lstStyle/>
          <a:p>
            <a:pPr algn="just">
              <a:lnSpc>
                <a:spcPct val="100000"/>
              </a:lnSpc>
            </a:pPr>
            <a:r>
              <a:rPr lang="en-US" sz="2800" b="1" dirty="0">
                <a:solidFill>
                  <a:srgbClr val="402E7F"/>
                </a:solidFill>
                <a:latin typeface="MiSans" pitchFamily="34" charset="-122"/>
                <a:ea typeface="MiSans" pitchFamily="34" charset="-122"/>
                <a:cs typeface="MiSans" pitchFamily="34" charset="-120"/>
              </a:rPr>
              <a:t>进度安排</a:t>
            </a:r>
            <a:endParaRPr lang="en-US" sz="1600" dirty="0"/>
          </a:p>
        </p:txBody>
      </p:sp>
      <p:sp>
        <p:nvSpPr>
          <p:cNvPr id="11" name="Text 6"/>
          <p:cNvSpPr/>
          <p:nvPr/>
        </p:nvSpPr>
        <p:spPr>
          <a:xfrm>
            <a:off x="5281295" y="2298065"/>
            <a:ext cx="5923280" cy="1981002"/>
          </a:xfrm>
          <a:prstGeom prst="rect">
            <a:avLst/>
          </a:prstGeom>
          <a:noFill/>
        </p:spPr>
        <p:txBody>
          <a:bodyPr wrap="square" lIns="91440" tIns="45720" rIns="91440" bIns="45720" rtlCol="0" anchor="t">
            <a:spAutoFit/>
          </a:bodyPr>
          <a:lstStyle/>
          <a:p>
            <a:pPr algn="just">
              <a:lnSpc>
                <a:spcPct val="130000"/>
              </a:lnSpc>
            </a:pPr>
            <a:r>
              <a:rPr lang="en-US" sz="2000" dirty="0">
                <a:solidFill>
                  <a:srgbClr val="1E1C0D"/>
                </a:solidFill>
                <a:latin typeface="MiSans" pitchFamily="34" charset="-122"/>
                <a:ea typeface="MiSans" pitchFamily="34" charset="-122"/>
                <a:cs typeface="MiSans" pitchFamily="34" charset="-120"/>
              </a:rPr>
              <a:t>现阶段完成开题报告与文献收集；2024年12月至2025年1月进行系统设计与核心模块开发；2025年1月至3月全面开发与算法实现；2025年3月至4月系统测试与论文初稿撰写；2025年5月准备论文答辩。</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p:spPr>
      </p:sp>
      <p:sp>
        <p:nvSpPr>
          <p:cNvPr id="5" name="Text 3"/>
          <p:cNvSpPr/>
          <p:nvPr/>
        </p:nvSpPr>
        <p:spPr>
          <a:xfrm>
            <a:off x="4445" y="0"/>
            <a:ext cx="12187555" cy="6875780"/>
          </a:xfrm>
          <a:prstGeom prst="rect">
            <a:avLst/>
          </a:prstGeom>
          <a:noFill/>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p:spPr>
      </p:sp>
      <p:sp>
        <p:nvSpPr>
          <p:cNvPr id="7" name="Text 5"/>
          <p:cNvSpPr/>
          <p:nvPr/>
        </p:nvSpPr>
        <p:spPr>
          <a:xfrm>
            <a:off x="85280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9" name="Text 7"/>
          <p:cNvSpPr/>
          <p:nvPr/>
        </p:nvSpPr>
        <p:spPr>
          <a:xfrm>
            <a:off x="113665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p:spPr>
      </p:sp>
      <p:sp>
        <p:nvSpPr>
          <p:cNvPr id="11" name="Text 9"/>
          <p:cNvSpPr/>
          <p:nvPr/>
        </p:nvSpPr>
        <p:spPr>
          <a:xfrm>
            <a:off x="142049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13" name="Text 11"/>
          <p:cNvSpPr/>
          <p:nvPr/>
        </p:nvSpPr>
        <p:spPr>
          <a:xfrm>
            <a:off x="170434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p:spPr>
      </p:sp>
      <p:sp>
        <p:nvSpPr>
          <p:cNvPr id="15" name="Text 13"/>
          <p:cNvSpPr/>
          <p:nvPr/>
        </p:nvSpPr>
        <p:spPr>
          <a:xfrm>
            <a:off x="198818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17" name="Text 15"/>
          <p:cNvSpPr/>
          <p:nvPr/>
        </p:nvSpPr>
        <p:spPr>
          <a:xfrm>
            <a:off x="227203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p:spPr>
      </p:sp>
      <p:sp>
        <p:nvSpPr>
          <p:cNvPr id="19" name="Text 17"/>
          <p:cNvSpPr/>
          <p:nvPr/>
        </p:nvSpPr>
        <p:spPr>
          <a:xfrm>
            <a:off x="11456035" y="38163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p:spPr>
      </p:sp>
      <p:sp>
        <p:nvSpPr>
          <p:cNvPr id="21" name="Text 19"/>
          <p:cNvSpPr/>
          <p:nvPr/>
        </p:nvSpPr>
        <p:spPr>
          <a:xfrm>
            <a:off x="11456035" y="501650"/>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p:spPr>
      </p:sp>
      <p:sp>
        <p:nvSpPr>
          <p:cNvPr id="23" name="Text 21"/>
          <p:cNvSpPr/>
          <p:nvPr/>
        </p:nvSpPr>
        <p:spPr>
          <a:xfrm>
            <a:off x="11456035" y="62166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sp>
      <p:sp>
        <p:nvSpPr>
          <p:cNvPr id="25" name="Shape 23"/>
          <p:cNvSpPr/>
          <p:nvPr/>
        </p:nvSpPr>
        <p:spPr>
          <a:xfrm>
            <a:off x="852805" y="6177280"/>
            <a:ext cx="259080" cy="259080"/>
          </a:xfrm>
          <a:prstGeom prst="ellipse">
            <a:avLst/>
          </a:prstGeom>
          <a:solidFill>
            <a:srgbClr val="FFFFFF"/>
          </a:solidFill>
        </p:spPr>
      </p:sp>
      <p:sp>
        <p:nvSpPr>
          <p:cNvPr id="26" name="Text 24"/>
          <p:cNvSpPr/>
          <p:nvPr/>
        </p:nvSpPr>
        <p:spPr>
          <a:xfrm>
            <a:off x="852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28" name="Text 26"/>
          <p:cNvSpPr/>
          <p:nvPr/>
        </p:nvSpPr>
        <p:spPr>
          <a:xfrm>
            <a:off x="979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9" name="Shape 27"/>
          <p:cNvSpPr/>
          <p:nvPr/>
        </p:nvSpPr>
        <p:spPr>
          <a:xfrm>
            <a:off x="1863725" y="2687320"/>
            <a:ext cx="8464550" cy="2306955"/>
          </a:xfrm>
          <a:prstGeom prst="rect">
            <a:avLst/>
          </a:prstGeom>
          <a:solidFill>
            <a:srgbClr val="000000">
              <a:alpha val="0"/>
            </a:srgbClr>
          </a:solidFill>
        </p:spPr>
      </p:sp>
      <p:sp>
        <p:nvSpPr>
          <p:cNvPr id="30" name="Text 28"/>
          <p:cNvSpPr/>
          <p:nvPr/>
        </p:nvSpPr>
        <p:spPr>
          <a:xfrm>
            <a:off x="1863725" y="2687320"/>
            <a:ext cx="8464550" cy="2306955"/>
          </a:xfrm>
          <a:prstGeom prst="rect">
            <a:avLst/>
          </a:prstGeom>
          <a:noFill/>
        </p:spPr>
        <p:txBody>
          <a:bodyPr wrap="square" lIns="45720" tIns="91440" rIns="91440" bIns="45720" rtlCol="0" anchor="t"/>
          <a:lstStyle/>
          <a:p>
            <a:pPr algn="ctr">
              <a:lnSpc>
                <a:spcPct val="100000"/>
              </a:lnSpc>
            </a:pPr>
            <a:r>
              <a:rPr lang="en-US" sz="7200" b="1" dirty="0">
                <a:solidFill>
                  <a:srgbClr val="FFFFFF"/>
                </a:solidFill>
                <a:latin typeface="MiSans" pitchFamily="34" charset="-122"/>
                <a:ea typeface="MiSans" pitchFamily="34" charset="-122"/>
                <a:cs typeface="MiSans" pitchFamily="34" charset="-120"/>
              </a:rPr>
              <a:t>参考文献与致谢</a:t>
            </a:r>
            <a:endParaRPr lang="en-US" sz="1600" dirty="0"/>
          </a:p>
        </p:txBody>
      </p:sp>
      <p:sp>
        <p:nvSpPr>
          <p:cNvPr id="31" name="Text 29"/>
          <p:cNvSpPr/>
          <p:nvPr/>
        </p:nvSpPr>
        <p:spPr>
          <a:xfrm>
            <a:off x="2515235" y="1350010"/>
            <a:ext cx="7161530" cy="1104900"/>
          </a:xfrm>
          <a:prstGeom prst="rect">
            <a:avLst/>
          </a:prstGeom>
          <a:noFill/>
        </p:spPr>
        <p:txBody>
          <a:bodyPr wrap="square" lIns="91440" tIns="45720" rIns="91440" bIns="45720" rtlCol="0" anchor="t">
            <a:spAutoFit/>
          </a:bodyPr>
          <a:lstStyle/>
          <a:p>
            <a:pPr algn="ctr">
              <a:lnSpc>
                <a:spcPct val="100000"/>
              </a:lnSpc>
            </a:pPr>
            <a:r>
              <a:rPr lang="en-US" sz="7200" dirty="0">
                <a:solidFill>
                  <a:srgbClr val="FFFFFF"/>
                </a:solidFill>
                <a:latin typeface="MiSans" pitchFamily="34" charset="-122"/>
                <a:ea typeface="MiSans" pitchFamily="34" charset="-122"/>
                <a:cs typeface="MiSans" pitchFamily="34" charset="-120"/>
              </a:rPr>
              <a:t>06</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rot="10800000" flipH="1" flipV="1">
            <a:off x="9435465" y="0"/>
            <a:ext cx="2767330" cy="6855460"/>
          </a:xfrm>
          <a:prstGeom prst="round2DiagRect">
            <a:avLst>
              <a:gd name="adj1" fmla="val 0"/>
              <a:gd name="adj2" fmla="val 0"/>
            </a:avLst>
          </a:prstGeom>
          <a:gradFill flip="none" rotWithShape="1">
            <a:gsLst>
              <a:gs pos="0">
                <a:srgbClr val="D7B1D4"/>
              </a:gs>
              <a:gs pos="34000">
                <a:srgbClr val="BC7DB7"/>
              </a:gs>
              <a:gs pos="100000">
                <a:srgbClr val="30225F"/>
              </a:gs>
            </a:gsLst>
            <a:lin ang="13500000" scaled="1"/>
          </a:gradFill>
        </p:spPr>
      </p:sp>
      <p:sp>
        <p:nvSpPr>
          <p:cNvPr id="5" name="Text 3"/>
          <p:cNvSpPr/>
          <p:nvPr/>
        </p:nvSpPr>
        <p:spPr>
          <a:xfrm rot="10800000">
            <a:off x="9435465" y="0"/>
            <a:ext cx="2767330" cy="6855460"/>
          </a:xfrm>
          <a:prstGeom prst="rect">
            <a:avLst/>
          </a:prstGeom>
          <a:noFill/>
        </p:spPr>
        <p:txBody>
          <a:bodyPr wrap="square" lIns="45720" tIns="91440" rIns="91440" bIns="45720" rtlCol="0" anchor="ctr"/>
          <a:lstStyle/>
          <a:p>
            <a:pPr>
              <a:lnSpc>
                <a:spcPct val="100000"/>
              </a:lnSpc>
            </a:pPr>
            <a:endParaRPr lang="en-US" sz="1600" dirty="0"/>
          </a:p>
        </p:txBody>
      </p:sp>
      <p:pic>
        <p:nvPicPr>
          <p:cNvPr id="6" name="Image 0" descr="https://test-kimi-img.moonshot.cn/pub/slides/slides_tmpl/image/25-08-11-17:39:00-d2crkd70ctitcgma2ib0.png"/>
          <p:cNvPicPr>
            <a:picLocks noChangeAspect="1"/>
          </p:cNvPicPr>
          <p:nvPr/>
        </p:nvPicPr>
        <p:blipFill>
          <a:blip r:embed="rId1"/>
          <a:srcRect t="584" b="584"/>
          <a:stretch>
            <a:fillRect/>
          </a:stretch>
        </p:blipFill>
        <p:spPr>
          <a:xfrm>
            <a:off x="5622290" y="1659255"/>
            <a:ext cx="5006975" cy="4246880"/>
          </a:xfrm>
          <a:prstGeom prst="rect">
            <a:avLst/>
          </a:prstGeom>
        </p:spPr>
      </p:pic>
      <p:sp>
        <p:nvSpPr>
          <p:cNvPr id="7" name="Text 4"/>
          <p:cNvSpPr/>
          <p:nvPr/>
        </p:nvSpPr>
        <p:spPr>
          <a:xfrm>
            <a:off x="582930" y="455295"/>
            <a:ext cx="10151745" cy="499467"/>
          </a:xfrm>
          <a:prstGeom prst="rect">
            <a:avLst/>
          </a:prstGeom>
          <a:noFill/>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122"/>
                <a:ea typeface="MiSans" pitchFamily="34" charset="-122"/>
                <a:cs typeface="MiSans" pitchFamily="34" charset="-120"/>
              </a:rPr>
              <a:t>参考文献</a:t>
            </a:r>
            <a:endParaRPr lang="en-US" sz="1600" dirty="0"/>
          </a:p>
        </p:txBody>
      </p:sp>
      <p:sp>
        <p:nvSpPr>
          <p:cNvPr id="8" name="Text 5"/>
          <p:cNvSpPr/>
          <p:nvPr/>
        </p:nvSpPr>
        <p:spPr>
          <a:xfrm>
            <a:off x="245745" y="1233170"/>
            <a:ext cx="4399892" cy="429617"/>
          </a:xfrm>
          <a:prstGeom prst="rect">
            <a:avLst/>
          </a:prstGeom>
          <a:noFill/>
        </p:spPr>
        <p:txBody>
          <a:bodyPr wrap="square" lIns="91440" tIns="45720" rIns="91440" bIns="45720" rtlCol="0" anchor="t">
            <a:spAutoFit/>
          </a:bodyPr>
          <a:lstStyle/>
          <a:p>
            <a:pPr algn="just">
              <a:lnSpc>
                <a:spcPct val="100000"/>
              </a:lnSpc>
            </a:pPr>
            <a:r>
              <a:rPr lang="en-US" sz="2800" b="1" dirty="0">
                <a:solidFill>
                  <a:srgbClr val="402E7F"/>
                </a:solidFill>
                <a:latin typeface="MiSans" pitchFamily="34" charset="-122"/>
                <a:ea typeface="MiSans" pitchFamily="34" charset="-122"/>
                <a:cs typeface="MiSans" pitchFamily="34" charset="-120"/>
              </a:rPr>
              <a:t>关键文献</a:t>
            </a:r>
            <a:endParaRPr lang="en-US" sz="1600" dirty="0"/>
          </a:p>
        </p:txBody>
      </p:sp>
      <p:sp>
        <p:nvSpPr>
          <p:cNvPr id="9" name="Text 6"/>
          <p:cNvSpPr/>
          <p:nvPr/>
        </p:nvSpPr>
        <p:spPr>
          <a:xfrm>
            <a:off x="180340" y="1840865"/>
            <a:ext cx="5441950" cy="4015105"/>
          </a:xfrm>
          <a:prstGeom prst="rect">
            <a:avLst/>
          </a:prstGeom>
          <a:noFill/>
        </p:spPr>
        <p:txBody>
          <a:bodyPr wrap="square" lIns="91440" tIns="45720" rIns="91440" bIns="45720" rtlCol="0" anchor="t">
            <a:spAutoFit/>
          </a:bodyPr>
          <a:lstStyle/>
          <a:p>
            <a:pPr algn="just">
              <a:lnSpc>
                <a:spcPct val="150000"/>
              </a:lnSpc>
            </a:pPr>
            <a:r>
              <a:rPr lang="en-US" altLang="zh-CN" sz="1000" dirty="0"/>
              <a:t>[1]</a:t>
            </a:r>
            <a:r>
              <a:rPr lang="zh-CN" altLang="en-US" sz="1000" dirty="0"/>
              <a:t>郭建杰</a:t>
            </a:r>
            <a:r>
              <a:rPr lang="en-US" altLang="zh-CN" sz="1000" dirty="0"/>
              <a:t>;</a:t>
            </a:r>
            <a:r>
              <a:rPr lang="zh-CN" altLang="en-US" sz="1000" dirty="0"/>
              <a:t>温唯一</a:t>
            </a:r>
            <a:r>
              <a:rPr lang="en-US" altLang="zh-CN" sz="1000" dirty="0"/>
              <a:t>;.</a:t>
            </a:r>
            <a:r>
              <a:rPr lang="zh-CN" altLang="en-US" sz="1000" dirty="0"/>
              <a:t>关于校园社交平台软件设计方案的思考</a:t>
            </a:r>
            <a:r>
              <a:rPr lang="en-US" altLang="zh-CN" sz="1000" dirty="0"/>
              <a:t>[J].</a:t>
            </a:r>
            <a:r>
              <a:rPr lang="zh-CN" altLang="en-US" sz="1000" dirty="0"/>
              <a:t>通讯世界</a:t>
            </a:r>
            <a:r>
              <a:rPr lang="en-US" altLang="zh-CN" sz="1000" dirty="0"/>
              <a:t>,2017,(10):258-259.</a:t>
            </a:r>
            <a:endParaRPr lang="en-US" altLang="zh-CN" sz="1000" dirty="0"/>
          </a:p>
          <a:p>
            <a:pPr algn="just">
              <a:lnSpc>
                <a:spcPct val="150000"/>
              </a:lnSpc>
            </a:pPr>
            <a:r>
              <a:rPr lang="en-US" altLang="zh-CN" sz="1000" dirty="0"/>
              <a:t>[2]</a:t>
            </a:r>
            <a:r>
              <a:rPr lang="zh-CN" altLang="en-US" sz="1000" dirty="0"/>
              <a:t>李蕊</a:t>
            </a:r>
            <a:r>
              <a:rPr lang="en-US" altLang="zh-CN" sz="1000" dirty="0"/>
              <a:t>;</a:t>
            </a:r>
            <a:r>
              <a:rPr lang="zh-CN" altLang="en-US" sz="1000" dirty="0"/>
              <a:t>王悦</a:t>
            </a:r>
            <a:r>
              <a:rPr lang="en-US" altLang="zh-CN" sz="1000" dirty="0"/>
              <a:t>;.</a:t>
            </a:r>
            <a:r>
              <a:rPr lang="zh-CN" altLang="en-US" sz="1000" dirty="0"/>
              <a:t>考虑项目流行度和用户信任的协同过滤推荐算法</a:t>
            </a:r>
            <a:r>
              <a:rPr lang="en-US" altLang="zh-CN" sz="1000" dirty="0"/>
              <a:t>[J].</a:t>
            </a:r>
            <a:r>
              <a:rPr lang="zh-CN" altLang="en-US" sz="1000" dirty="0"/>
              <a:t>电脑知识与技术</a:t>
            </a:r>
            <a:r>
              <a:rPr lang="en-US" altLang="zh-CN" sz="1000" dirty="0"/>
              <a:t>,2025,(18):32-35.</a:t>
            </a:r>
            <a:endParaRPr lang="en-US" altLang="zh-CN" sz="1000" dirty="0"/>
          </a:p>
          <a:p>
            <a:pPr algn="just">
              <a:lnSpc>
                <a:spcPct val="150000"/>
              </a:lnSpc>
            </a:pPr>
            <a:r>
              <a:rPr lang="en-US" altLang="zh-CN" sz="1000" dirty="0"/>
              <a:t>[3]</a:t>
            </a:r>
            <a:r>
              <a:rPr lang="zh-CN" altLang="en-US" sz="1000" dirty="0"/>
              <a:t>黄杰</a:t>
            </a:r>
            <a:r>
              <a:rPr lang="en-US" altLang="zh-CN" sz="1000" dirty="0"/>
              <a:t>;</a:t>
            </a:r>
            <a:r>
              <a:rPr lang="zh-CN" altLang="en-US" sz="1000" dirty="0"/>
              <a:t>张鑫烨</a:t>
            </a:r>
            <a:r>
              <a:rPr lang="en-US" altLang="zh-CN" sz="1000" dirty="0"/>
              <a:t>;</a:t>
            </a:r>
            <a:r>
              <a:rPr lang="zh-CN" altLang="en-US" sz="1000" dirty="0"/>
              <a:t>张锦涛</a:t>
            </a:r>
            <a:r>
              <a:rPr lang="en-US" altLang="zh-CN" sz="1000" dirty="0"/>
              <a:t>;.</a:t>
            </a:r>
            <a:r>
              <a:rPr lang="zh-CN" altLang="en-US" sz="1000" dirty="0"/>
              <a:t>面向个性推荐系统的协同过滤推荐算法研究</a:t>
            </a:r>
            <a:r>
              <a:rPr lang="en-US" altLang="zh-CN" sz="1000" dirty="0"/>
              <a:t>[J].</a:t>
            </a:r>
            <a:r>
              <a:rPr lang="zh-CN" altLang="en-US" sz="1000" dirty="0"/>
              <a:t>数字技术与应用</a:t>
            </a:r>
            <a:r>
              <a:rPr lang="en-US" altLang="zh-CN" sz="1000" dirty="0"/>
              <a:t>,2019,(05):136+138.</a:t>
            </a:r>
            <a:endParaRPr lang="en-US" altLang="zh-CN" sz="1000" dirty="0"/>
          </a:p>
          <a:p>
            <a:pPr algn="just">
              <a:lnSpc>
                <a:spcPct val="150000"/>
              </a:lnSpc>
            </a:pPr>
            <a:r>
              <a:rPr lang="en-US" altLang="zh-CN" sz="1000" dirty="0"/>
              <a:t>[4]</a:t>
            </a:r>
            <a:r>
              <a:rPr lang="zh-CN" altLang="en-US" sz="1000" dirty="0"/>
              <a:t>林丽金</a:t>
            </a:r>
            <a:r>
              <a:rPr lang="en-US" altLang="zh-CN" sz="1000" dirty="0"/>
              <a:t>;</a:t>
            </a:r>
            <a:r>
              <a:rPr lang="zh-CN" altLang="en-US" sz="1000" dirty="0"/>
              <a:t>李文翔</a:t>
            </a:r>
            <a:r>
              <a:rPr lang="en-US" altLang="zh-CN" sz="1000" dirty="0"/>
              <a:t>;</a:t>
            </a:r>
            <a:r>
              <a:rPr lang="zh-CN" altLang="en-US" sz="1000" dirty="0"/>
              <a:t>杨俊贤</a:t>
            </a:r>
            <a:r>
              <a:rPr lang="en-US" altLang="zh-CN" sz="1000" dirty="0"/>
              <a:t>;</a:t>
            </a:r>
            <a:r>
              <a:rPr lang="zh-CN" altLang="en-US" sz="1000" dirty="0"/>
              <a:t>李忠森</a:t>
            </a:r>
            <a:r>
              <a:rPr lang="en-US" altLang="zh-CN" sz="1000" dirty="0"/>
              <a:t>;.</a:t>
            </a:r>
            <a:r>
              <a:rPr lang="zh-CN" altLang="en-US" sz="1000" dirty="0"/>
              <a:t>基于协同过滤在高校学习资源个性化推荐系统中应用研究</a:t>
            </a:r>
            <a:r>
              <a:rPr lang="en-US" altLang="zh-CN" sz="1000" dirty="0"/>
              <a:t>[J].</a:t>
            </a:r>
            <a:r>
              <a:rPr lang="zh-CN" altLang="en-US" sz="1000" dirty="0"/>
              <a:t>价值工程</a:t>
            </a:r>
            <a:r>
              <a:rPr lang="en-US" altLang="zh-CN" sz="1000" dirty="0"/>
              <a:t>,2016,(04):191-193.</a:t>
            </a:r>
            <a:endParaRPr lang="en-US" altLang="zh-CN" sz="1000" dirty="0"/>
          </a:p>
          <a:p>
            <a:pPr algn="just">
              <a:lnSpc>
                <a:spcPct val="150000"/>
              </a:lnSpc>
            </a:pPr>
            <a:r>
              <a:rPr lang="en-US" altLang="zh-CN" sz="1000" dirty="0"/>
              <a:t>[5]</a:t>
            </a:r>
            <a:r>
              <a:rPr lang="zh-CN" altLang="en-US" sz="1000" dirty="0"/>
              <a:t>鲁为</a:t>
            </a:r>
            <a:r>
              <a:rPr lang="en-US" altLang="zh-CN" sz="1000" dirty="0"/>
              <a:t>.</a:t>
            </a:r>
            <a:r>
              <a:rPr lang="zh-CN" altLang="en-US" sz="1000" dirty="0"/>
              <a:t>协作过滤算法及其在个性化推荐系统中的应用</a:t>
            </a:r>
            <a:r>
              <a:rPr lang="en-US" altLang="zh-CN" sz="1000" dirty="0"/>
              <a:t>[C].2007.</a:t>
            </a:r>
            <a:endParaRPr lang="en-US" altLang="zh-CN" sz="1000" dirty="0"/>
          </a:p>
          <a:p>
            <a:pPr algn="just">
              <a:lnSpc>
                <a:spcPct val="150000"/>
              </a:lnSpc>
            </a:pPr>
            <a:r>
              <a:rPr lang="en-US" altLang="zh-CN" sz="1000" dirty="0"/>
              <a:t>[6]</a:t>
            </a:r>
            <a:r>
              <a:rPr lang="zh-CN" altLang="en-US" sz="1000" dirty="0"/>
              <a:t>李志豪</a:t>
            </a:r>
            <a:r>
              <a:rPr lang="en-US" altLang="zh-CN" sz="1000" dirty="0"/>
              <a:t>.</a:t>
            </a:r>
            <a:r>
              <a:rPr lang="zh-CN" altLang="en-US" sz="1000" dirty="0"/>
              <a:t>基于深度学习的个性推荐算法研究及应用</a:t>
            </a:r>
            <a:r>
              <a:rPr lang="en-US" altLang="zh-CN" sz="1000" dirty="0"/>
              <a:t>[C].2023.</a:t>
            </a:r>
            <a:endParaRPr lang="en-US" altLang="zh-CN" sz="1000" dirty="0"/>
          </a:p>
          <a:p>
            <a:pPr algn="just">
              <a:lnSpc>
                <a:spcPct val="150000"/>
              </a:lnSpc>
            </a:pPr>
            <a:r>
              <a:rPr lang="en-US" altLang="zh-CN" sz="1000" dirty="0"/>
              <a:t>[7]Ruyi Gao;.Research on the Impact of Peer Social Networks on Students' Physical and Mental Development and Campus HappinessThe 2023 International Conference on Global Politics and Socio-Humanities (ICGPSH 2023),2023,597-602.</a:t>
            </a:r>
            <a:endParaRPr lang="en-US" altLang="zh-CN" sz="1000" dirty="0"/>
          </a:p>
          <a:p>
            <a:pPr algn="just">
              <a:lnSpc>
                <a:spcPct val="150000"/>
              </a:lnSpc>
            </a:pPr>
            <a:r>
              <a:rPr lang="en-US" altLang="zh-CN" sz="1000" dirty="0"/>
              <a:t>[8]Yuqiu Zhao;Chaohong Tan;Lei Shi;Yan Zhong;Feifei Kou;Pengfei Zhang;Wei Chen;Chen Ma.Generative recommender systems: A comprehensive survey on model, framework, and application[J].Information Fusion,2026,(PC)</a:t>
            </a:r>
            <a:endParaRPr lang="en-US" altLang="zh-CN" sz="1000" dirty="0"/>
          </a:p>
          <a:p>
            <a:pPr algn="just">
              <a:lnSpc>
                <a:spcPct val="150000"/>
              </a:lnSpc>
            </a:pPr>
            <a:r>
              <a:rPr lang="en-US" altLang="zh-CN" sz="1000" dirty="0"/>
              <a:t>[9]M. A. Zharova;V. I. Tsurkov.Using Negative User Actions to Improve the Quality of Recommender Systems[J].Journal of Computer and Systems Sciences International,2025,(4)</a:t>
            </a:r>
            <a:endParaRPr lang="en-US" altLang="zh-CN" sz="10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Text 2"/>
          <p:cNvSpPr/>
          <p:nvPr/>
        </p:nvSpPr>
        <p:spPr>
          <a:xfrm>
            <a:off x="582930" y="455295"/>
            <a:ext cx="10151745" cy="499467"/>
          </a:xfrm>
          <a:prstGeom prst="rect">
            <a:avLst/>
          </a:prstGeom>
          <a:noFill/>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122"/>
                <a:ea typeface="MiSans" pitchFamily="34" charset="-122"/>
                <a:cs typeface="MiSans" pitchFamily="34" charset="-120"/>
              </a:rPr>
              <a:t>感谢各位老师聆听，敬请批评指正！</a:t>
            </a:r>
            <a:endParaRPr lang="en-US" sz="1600" dirty="0"/>
          </a:p>
        </p:txBody>
      </p:sp>
      <p:pic>
        <p:nvPicPr>
          <p:cNvPr id="5" name="Image 0" descr="https://test-kimi-img.moonshot.cn/pub/slides/slides_tmpl/image/25-08-11-17:39:00-d2crkd70ctitcgma2iag.png"/>
          <p:cNvPicPr>
            <a:picLocks noChangeAspect="1"/>
          </p:cNvPicPr>
          <p:nvPr/>
        </p:nvPicPr>
        <p:blipFill>
          <a:blip r:embed="rId1"/>
          <a:srcRect t="62" b="62"/>
          <a:stretch>
            <a:fillRect/>
          </a:stretch>
        </p:blipFill>
        <p:spPr>
          <a:xfrm>
            <a:off x="685165" y="1349375"/>
            <a:ext cx="6171565" cy="4627245"/>
          </a:xfrm>
          <a:prstGeom prst="rect">
            <a:avLst/>
          </a:prstGeom>
        </p:spPr>
      </p:pic>
      <p:sp>
        <p:nvSpPr>
          <p:cNvPr id="6" name="Shape 3"/>
          <p:cNvSpPr/>
          <p:nvPr/>
        </p:nvSpPr>
        <p:spPr>
          <a:xfrm>
            <a:off x="7186295" y="1450975"/>
            <a:ext cx="3937000" cy="4660265"/>
          </a:xfrm>
          <a:prstGeom prst="roundRect">
            <a:avLst>
              <a:gd name="adj" fmla="val 3112"/>
            </a:avLst>
          </a:prstGeom>
          <a:gradFill flip="none" rotWithShape="1">
            <a:gsLst>
              <a:gs pos="0">
                <a:srgbClr val="D7B1D4"/>
              </a:gs>
              <a:gs pos="34000">
                <a:srgbClr val="BC7DB7"/>
              </a:gs>
              <a:gs pos="100000">
                <a:srgbClr val="30225F"/>
              </a:gs>
            </a:gsLst>
            <a:lin ang="13500000" scaled="1"/>
          </a:gradFill>
        </p:spPr>
      </p:sp>
      <p:sp>
        <p:nvSpPr>
          <p:cNvPr id="7" name="Text 4"/>
          <p:cNvSpPr/>
          <p:nvPr/>
        </p:nvSpPr>
        <p:spPr>
          <a:xfrm>
            <a:off x="7186295" y="1450975"/>
            <a:ext cx="3937000" cy="4660265"/>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5"/>
          <p:cNvSpPr/>
          <p:nvPr/>
        </p:nvSpPr>
        <p:spPr>
          <a:xfrm>
            <a:off x="7097395" y="1349375"/>
            <a:ext cx="3937000" cy="4660265"/>
          </a:xfrm>
          <a:prstGeom prst="roundRect">
            <a:avLst>
              <a:gd name="adj" fmla="val 3112"/>
            </a:avLst>
          </a:prstGeom>
          <a:solidFill>
            <a:srgbClr val="FFFFFF"/>
          </a:solidFill>
          <a:ln w="19050">
            <a:solidFill>
              <a:srgbClr val="402E7F"/>
            </a:solidFill>
            <a:prstDash val="solid"/>
          </a:ln>
        </p:spPr>
      </p:sp>
      <p:sp>
        <p:nvSpPr>
          <p:cNvPr id="9" name="Text 6"/>
          <p:cNvSpPr/>
          <p:nvPr/>
        </p:nvSpPr>
        <p:spPr>
          <a:xfrm>
            <a:off x="7097395" y="1349375"/>
            <a:ext cx="3937000" cy="4660265"/>
          </a:xfrm>
          <a:prstGeom prst="rect">
            <a:avLst/>
          </a:prstGeom>
          <a:noFill/>
        </p:spPr>
        <p:txBody>
          <a:bodyPr wrap="square" lIns="45720" tIns="91440" rIns="91440" bIns="45720" rtlCol="0" anchor="ctr"/>
          <a:lstStyle/>
          <a:p>
            <a:pPr>
              <a:lnSpc>
                <a:spcPct val="100000"/>
              </a:lnSpc>
            </a:pPr>
            <a:endParaRPr lang="en-US" sz="1600" dirty="0"/>
          </a:p>
        </p:txBody>
      </p:sp>
      <p:sp>
        <p:nvSpPr>
          <p:cNvPr id="10" name="Text 7"/>
          <p:cNvSpPr/>
          <p:nvPr/>
        </p:nvSpPr>
        <p:spPr>
          <a:xfrm>
            <a:off x="7266940" y="1569085"/>
            <a:ext cx="3605440" cy="429617"/>
          </a:xfrm>
          <a:prstGeom prst="rect">
            <a:avLst/>
          </a:prstGeom>
          <a:noFill/>
        </p:spPr>
        <p:txBody>
          <a:bodyPr wrap="square" lIns="91440" tIns="45720" rIns="91440" bIns="45720" rtlCol="0" anchor="t">
            <a:spAutoFit/>
          </a:bodyPr>
          <a:lstStyle/>
          <a:p>
            <a:pPr algn="just">
              <a:lnSpc>
                <a:spcPct val="100000"/>
              </a:lnSpc>
            </a:pPr>
            <a:r>
              <a:rPr lang="en-US" sz="2800" b="1" dirty="0">
                <a:solidFill>
                  <a:srgbClr val="402E7F"/>
                </a:solidFill>
                <a:latin typeface="MiSans" pitchFamily="34" charset="-122"/>
                <a:ea typeface="MiSans" pitchFamily="34" charset="-122"/>
                <a:cs typeface="MiSans" pitchFamily="34" charset="-120"/>
              </a:rPr>
              <a:t>感谢与邀请</a:t>
            </a:r>
            <a:endParaRPr lang="en-US" sz="1600" dirty="0"/>
          </a:p>
        </p:txBody>
      </p:sp>
      <p:sp>
        <p:nvSpPr>
          <p:cNvPr id="11" name="Text 8"/>
          <p:cNvSpPr/>
          <p:nvPr/>
        </p:nvSpPr>
        <p:spPr>
          <a:xfrm>
            <a:off x="7266940" y="2639060"/>
            <a:ext cx="3613785" cy="767953"/>
          </a:xfrm>
          <a:prstGeom prst="rect">
            <a:avLst/>
          </a:prstGeom>
          <a:noFill/>
        </p:spPr>
        <p:txBody>
          <a:bodyPr wrap="square" lIns="91440" tIns="45720" rIns="91440" bIns="45720" rtlCol="0" anchor="t">
            <a:spAutoFit/>
          </a:bodyPr>
          <a:lstStyle/>
          <a:p>
            <a:pPr algn="just">
              <a:lnSpc>
                <a:spcPct val="140000"/>
              </a:lnSpc>
            </a:pPr>
            <a:r>
              <a:rPr lang="en-US" sz="1800" dirty="0">
                <a:solidFill>
                  <a:srgbClr val="1E1C0D"/>
                </a:solidFill>
                <a:latin typeface="MiSans" pitchFamily="34" charset="-122"/>
                <a:ea typeface="MiSans" pitchFamily="34" charset="-122"/>
                <a:cs typeface="MiSans" pitchFamily="34" charset="-120"/>
              </a:rPr>
              <a:t>感谢各位老师聆听，敬请批评指正！</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p:spPr>
      </p:sp>
      <p:sp>
        <p:nvSpPr>
          <p:cNvPr id="5" name="Text 3"/>
          <p:cNvSpPr/>
          <p:nvPr/>
        </p:nvSpPr>
        <p:spPr>
          <a:xfrm>
            <a:off x="4445" y="0"/>
            <a:ext cx="12187555" cy="6875780"/>
          </a:xfrm>
          <a:prstGeom prst="rect">
            <a:avLst/>
          </a:prstGeom>
          <a:noFill/>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p:spPr>
      </p:sp>
      <p:sp>
        <p:nvSpPr>
          <p:cNvPr id="7" name="Text 5"/>
          <p:cNvSpPr/>
          <p:nvPr/>
        </p:nvSpPr>
        <p:spPr>
          <a:xfrm>
            <a:off x="85280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9" name="Text 7"/>
          <p:cNvSpPr/>
          <p:nvPr/>
        </p:nvSpPr>
        <p:spPr>
          <a:xfrm>
            <a:off x="113665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p:spPr>
      </p:sp>
      <p:sp>
        <p:nvSpPr>
          <p:cNvPr id="11" name="Text 9"/>
          <p:cNvSpPr/>
          <p:nvPr/>
        </p:nvSpPr>
        <p:spPr>
          <a:xfrm>
            <a:off x="142049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13" name="Text 11"/>
          <p:cNvSpPr/>
          <p:nvPr/>
        </p:nvSpPr>
        <p:spPr>
          <a:xfrm>
            <a:off x="170434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p:spPr>
      </p:sp>
      <p:sp>
        <p:nvSpPr>
          <p:cNvPr id="15" name="Text 13"/>
          <p:cNvSpPr/>
          <p:nvPr/>
        </p:nvSpPr>
        <p:spPr>
          <a:xfrm>
            <a:off x="198818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17" name="Text 15"/>
          <p:cNvSpPr/>
          <p:nvPr/>
        </p:nvSpPr>
        <p:spPr>
          <a:xfrm>
            <a:off x="227203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p:spPr>
      </p:sp>
      <p:sp>
        <p:nvSpPr>
          <p:cNvPr id="19" name="Text 17"/>
          <p:cNvSpPr/>
          <p:nvPr/>
        </p:nvSpPr>
        <p:spPr>
          <a:xfrm>
            <a:off x="11456035" y="38163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p:spPr>
      </p:sp>
      <p:sp>
        <p:nvSpPr>
          <p:cNvPr id="21" name="Text 19"/>
          <p:cNvSpPr/>
          <p:nvPr/>
        </p:nvSpPr>
        <p:spPr>
          <a:xfrm>
            <a:off x="11456035" y="501650"/>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p:spPr>
      </p:sp>
      <p:sp>
        <p:nvSpPr>
          <p:cNvPr id="23" name="Text 21"/>
          <p:cNvSpPr/>
          <p:nvPr/>
        </p:nvSpPr>
        <p:spPr>
          <a:xfrm>
            <a:off x="11456035" y="62166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sp>
      <p:sp>
        <p:nvSpPr>
          <p:cNvPr id="25" name="Shape 23"/>
          <p:cNvSpPr/>
          <p:nvPr/>
        </p:nvSpPr>
        <p:spPr>
          <a:xfrm>
            <a:off x="852805" y="6177280"/>
            <a:ext cx="259080" cy="259080"/>
          </a:xfrm>
          <a:prstGeom prst="ellipse">
            <a:avLst/>
          </a:prstGeom>
          <a:solidFill>
            <a:srgbClr val="FFFFFF"/>
          </a:solidFill>
        </p:spPr>
      </p:sp>
      <p:sp>
        <p:nvSpPr>
          <p:cNvPr id="26" name="Text 24"/>
          <p:cNvSpPr/>
          <p:nvPr/>
        </p:nvSpPr>
        <p:spPr>
          <a:xfrm>
            <a:off x="852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28" name="Text 26"/>
          <p:cNvSpPr/>
          <p:nvPr/>
        </p:nvSpPr>
        <p:spPr>
          <a:xfrm>
            <a:off x="979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9" name="Text 27"/>
          <p:cNvSpPr/>
          <p:nvPr/>
        </p:nvSpPr>
        <p:spPr>
          <a:xfrm>
            <a:off x="2406015" y="2022475"/>
            <a:ext cx="7379970" cy="1811655"/>
          </a:xfrm>
          <a:prstGeom prst="rect">
            <a:avLst/>
          </a:prstGeom>
          <a:noFill/>
        </p:spPr>
        <p:txBody>
          <a:bodyPr wrap="square" lIns="91440" tIns="45720" rIns="91440" bIns="45720" rtlCol="0" anchor="t"/>
          <a:lstStyle/>
          <a:p>
            <a:pPr algn="ctr">
              <a:lnSpc>
                <a:spcPct val="100000"/>
              </a:lnSpc>
            </a:pPr>
            <a:r>
              <a:rPr lang="en-US" sz="11500" b="1" dirty="0">
                <a:solidFill>
                  <a:srgbClr val="FFFFFF"/>
                </a:solidFill>
                <a:latin typeface="MiSans" pitchFamily="34" charset="-122"/>
                <a:ea typeface="MiSans" pitchFamily="34" charset="-122"/>
                <a:cs typeface="MiSans" pitchFamily="34" charset="-120"/>
              </a:rPr>
              <a:t>感谢观看</a:t>
            </a:r>
            <a:endParaRPr lang="en-US" sz="1600" dirty="0"/>
          </a:p>
        </p:txBody>
      </p:sp>
      <p:sp>
        <p:nvSpPr>
          <p:cNvPr id="30" name="Shape 28"/>
          <p:cNvSpPr/>
          <p:nvPr/>
        </p:nvSpPr>
        <p:spPr>
          <a:xfrm>
            <a:off x="3875723" y="4495165"/>
            <a:ext cx="2057400" cy="518160"/>
          </a:xfrm>
          <a:prstGeom prst="roundRect">
            <a:avLst>
              <a:gd name="adj" fmla="val 50000"/>
            </a:avLst>
          </a:prstGeom>
          <a:solidFill>
            <a:srgbClr val="FFFFFF"/>
          </a:solidFill>
        </p:spPr>
      </p:sp>
      <p:sp>
        <p:nvSpPr>
          <p:cNvPr id="31" name="Text 29"/>
          <p:cNvSpPr/>
          <p:nvPr/>
        </p:nvSpPr>
        <p:spPr>
          <a:xfrm>
            <a:off x="3875723" y="4495165"/>
            <a:ext cx="2057400" cy="518160"/>
          </a:xfrm>
          <a:prstGeom prst="rect">
            <a:avLst/>
          </a:prstGeom>
          <a:noFill/>
        </p:spPr>
        <p:txBody>
          <a:bodyPr wrap="square" lIns="45720" tIns="91440" rIns="91440" bIns="45720" rtlCol="0" anchor="ctr"/>
          <a:lstStyle/>
          <a:p>
            <a:pPr>
              <a:lnSpc>
                <a:spcPct val="100000"/>
              </a:lnSpc>
            </a:pPr>
            <a:endParaRPr lang="en-US" sz="1600" dirty="0"/>
          </a:p>
        </p:txBody>
      </p:sp>
      <p:sp>
        <p:nvSpPr>
          <p:cNvPr id="32" name="Text 30"/>
          <p:cNvSpPr/>
          <p:nvPr/>
        </p:nvSpPr>
        <p:spPr>
          <a:xfrm>
            <a:off x="3779838" y="4554855"/>
            <a:ext cx="2249805" cy="398780"/>
          </a:xfrm>
          <a:prstGeom prst="rect">
            <a:avLst/>
          </a:prstGeom>
          <a:noFill/>
        </p:spPr>
        <p:txBody>
          <a:bodyPr wrap="square" lIns="91440" tIns="45720" rIns="91440" bIns="45720" rtlCol="0" anchor="t">
            <a:spAutoFit/>
          </a:bodyPr>
          <a:lstStyle/>
          <a:p>
            <a:pPr algn="ctr">
              <a:lnSpc>
                <a:spcPct val="100000"/>
              </a:lnSpc>
            </a:pPr>
            <a:r>
              <a:rPr lang="en-US" sz="2000" dirty="0">
                <a:solidFill>
                  <a:srgbClr val="402E7F"/>
                </a:solidFill>
                <a:latin typeface="MiSans" pitchFamily="34" charset="-122"/>
                <a:ea typeface="MiSans" pitchFamily="34" charset="-122"/>
                <a:cs typeface="MiSans" pitchFamily="34" charset="-120"/>
              </a:rPr>
              <a:t>汇报人:</a:t>
            </a:r>
            <a:r>
              <a:rPr lang="zh-CN" altLang="en-US" sz="2000" dirty="0">
                <a:solidFill>
                  <a:srgbClr val="402E7F"/>
                </a:solidFill>
                <a:latin typeface="MiSans" pitchFamily="34" charset="-122"/>
                <a:ea typeface="MiSans" pitchFamily="34" charset="-122"/>
                <a:cs typeface="MiSans" pitchFamily="34" charset="-120"/>
              </a:rPr>
              <a:t>桑子翔</a:t>
            </a:r>
            <a:endParaRPr lang="zh-CN" altLang="en-US" sz="2000" dirty="0">
              <a:solidFill>
                <a:srgbClr val="402E7F"/>
              </a:solidFill>
              <a:latin typeface="MiSans" pitchFamily="34" charset="-122"/>
              <a:ea typeface="MiSans" pitchFamily="34" charset="-122"/>
              <a:cs typeface="MiSans" pitchFamily="34" charset="-120"/>
            </a:endParaRPr>
          </a:p>
        </p:txBody>
      </p:sp>
      <p:sp>
        <p:nvSpPr>
          <p:cNvPr id="33" name="Shape 31"/>
          <p:cNvSpPr/>
          <p:nvPr/>
        </p:nvSpPr>
        <p:spPr>
          <a:xfrm>
            <a:off x="6258243" y="4495165"/>
            <a:ext cx="2057400" cy="518160"/>
          </a:xfrm>
          <a:prstGeom prst="roundRect">
            <a:avLst>
              <a:gd name="adj" fmla="val 50000"/>
            </a:avLst>
          </a:prstGeom>
          <a:solidFill>
            <a:srgbClr val="FFFFFF"/>
          </a:solidFill>
        </p:spPr>
      </p:sp>
      <p:sp>
        <p:nvSpPr>
          <p:cNvPr id="34" name="Text 32"/>
          <p:cNvSpPr/>
          <p:nvPr/>
        </p:nvSpPr>
        <p:spPr>
          <a:xfrm>
            <a:off x="6258243" y="4495165"/>
            <a:ext cx="2057400" cy="518160"/>
          </a:xfrm>
          <a:prstGeom prst="rect">
            <a:avLst/>
          </a:prstGeom>
          <a:noFill/>
        </p:spPr>
        <p:txBody>
          <a:bodyPr wrap="square" lIns="45720" tIns="91440" rIns="91440" bIns="45720" rtlCol="0" anchor="ctr"/>
          <a:lstStyle/>
          <a:p>
            <a:pPr>
              <a:lnSpc>
                <a:spcPct val="100000"/>
              </a:lnSpc>
            </a:pPr>
            <a:endParaRPr lang="en-US" sz="1600" dirty="0"/>
          </a:p>
        </p:txBody>
      </p:sp>
      <p:sp>
        <p:nvSpPr>
          <p:cNvPr id="35" name="Text 33"/>
          <p:cNvSpPr/>
          <p:nvPr/>
        </p:nvSpPr>
        <p:spPr>
          <a:xfrm>
            <a:off x="6162358" y="4554855"/>
            <a:ext cx="2249805" cy="398780"/>
          </a:xfrm>
          <a:prstGeom prst="rect">
            <a:avLst/>
          </a:prstGeom>
          <a:noFill/>
        </p:spPr>
        <p:txBody>
          <a:bodyPr wrap="square" lIns="91440" tIns="45720" rIns="91440" bIns="45720" rtlCol="0" anchor="t">
            <a:spAutoFit/>
          </a:bodyPr>
          <a:lstStyle/>
          <a:p>
            <a:pPr algn="ctr">
              <a:lnSpc>
                <a:spcPct val="100000"/>
              </a:lnSpc>
            </a:pPr>
            <a:r>
              <a:rPr lang="en-US" sz="2000" dirty="0">
                <a:solidFill>
                  <a:srgbClr val="402E7F"/>
                </a:solidFill>
                <a:latin typeface="MiSans" pitchFamily="34" charset="-122"/>
                <a:ea typeface="MiSans" pitchFamily="34" charset="-122"/>
                <a:cs typeface="MiSans" pitchFamily="34" charset="-120"/>
              </a:rPr>
              <a:t>时间:2025.11.20</a:t>
            </a:r>
            <a:endParaRPr lang="en-US" sz="1600" dirty="0"/>
          </a:p>
        </p:txBody>
      </p:sp>
    </p:spTree>
  </p:cSld>
  <p:clrMapOvr>
    <a:masterClrMapping/>
  </p:clrMapOvr>
  <p:transition>
    <p:fade/>
  </p:transition>
</p:sld>
</file>

<file path=ppt/tags/tag1.xml><?xml version="1.0" encoding="utf-8"?>
<p:tagLst xmlns:p="http://schemas.openxmlformats.org/presentationml/2006/main">
  <p:tag name="KSO_WM_DIAGRAM_VIRTUALLY_FRAME" val="{&quot;height&quot;:381.2,&quot;left&quot;:430.5,&quot;top&quot;:67.8,&quot;width&quot;:453.75}"/>
</p:tagLst>
</file>

<file path=ppt/tags/tag2.xml><?xml version="1.0" encoding="utf-8"?>
<p:tagLst xmlns:p="http://schemas.openxmlformats.org/presentationml/2006/main">
  <p:tag name="KSO_WM_DIAGRAM_VIRTUALLY_FRAME" val="{&quot;height&quot;:381.2,&quot;left&quot;:430.5,&quot;top&quot;:67.8,&quot;width&quot;:453.75}"/>
</p:tagLst>
</file>

<file path=ppt/tags/tag3.xml><?xml version="1.0" encoding="utf-8"?>
<p:tagLst xmlns:p="http://schemas.openxmlformats.org/presentationml/2006/main">
  <p:tag name="KSO_WM_DIAGRAM_VIRTUALLY_FRAME" val="{&quot;height&quot;:381.2,&quot;left&quot;:430.5,&quot;top&quot;:67.8,&quot;width&quot;:453.75}"/>
</p:tagLst>
</file>

<file path=ppt/tags/tag4.xml><?xml version="1.0" encoding="utf-8"?>
<p:tagLst xmlns:p="http://schemas.openxmlformats.org/presentationml/2006/main">
  <p:tag name="KSO_WM_DIAGRAM_VIRTUALLY_FRAME" val="{&quot;height&quot;:381.2,&quot;left&quot;:430.5,&quot;top&quot;:67.8,&quot;width&quot;:453.75}"/>
</p:tagLst>
</file>

<file path=ppt/tags/tag5.xml><?xml version="1.0" encoding="utf-8"?>
<p:tagLst xmlns:p="http://schemas.openxmlformats.org/presentationml/2006/main">
  <p:tag name="KSO_WM_DIAGRAM_VIRTUALLY_FRAME" val="{&quot;height&quot;:381.2,&quot;left&quot;:430.5,&quot;top&quot;:67.8,&quot;width&quot;:453.75}"/>
</p:tagLst>
</file>

<file path=ppt/tags/tag6.xml><?xml version="1.0" encoding="utf-8"?>
<p:tagLst xmlns:p="http://schemas.openxmlformats.org/presentationml/2006/main">
  <p:tag name="KSO_WM_DIAGRAM_VIRTUALLY_FRAME" val="{&quot;height&quot;:381.2,&quot;left&quot;:430.5,&quot;top&quot;:67.8,&quot;width&quot;:453.75}"/>
</p:tagLst>
</file>

<file path=ppt/tags/tag7.xml><?xml version="1.0" encoding="utf-8"?>
<p:tagLst xmlns:p="http://schemas.openxmlformats.org/presentationml/2006/main">
  <p:tag name="KSO_WM_DIAGRAM_VIRTUALLY_FRAME" val="{&quot;height&quot;:381.2,&quot;left&quot;:430.5,&quot;top&quot;:67.8,&quot;width&quot;:453.75}"/>
</p:tagLst>
</file>

<file path=ppt/tags/tag8.xml><?xml version="1.0" encoding="utf-8"?>
<p:tagLst xmlns:p="http://schemas.openxmlformats.org/presentationml/2006/main">
  <p:tag name="KSO_WM_DIAGRAM_VIRTUALLY_FRAME" val="{&quot;height&quot;:381.2,&quot;left&quot;:430.5,&quot;top&quot;:67.8,&quot;width&quot;:453.75}"/>
</p:tagLst>
</file>

<file path=ppt/tags/tag9.xml><?xml version="1.0" encoding="utf-8"?>
<p:tagLst xmlns:p="http://schemas.openxmlformats.org/presentationml/2006/main">
  <p:tag name="KSO_WM_DIAGRAM_VIRTUALLY_FRAME" val="{&quot;height&quot;:381.2,&quot;left&quot;:430.5,&quot;top&quot;:67.8,&quot;width&quot;:453.75}"/>
</p:tagLst>
</file>

<file path=ppt/tags/tag10.xml><?xml version="1.0" encoding="utf-8"?>
<p:tagLst xmlns:p="http://schemas.openxmlformats.org/presentationml/2006/main">
  <p:tag name="KSO_WM_DIAGRAM_VIRTUALLY_FRAME" val="{&quot;height&quot;:381.2,&quot;left&quot;:430.5,&quot;top&quot;:67.8,&quot;width&quot;:453.75}"/>
</p:tagLst>
</file>

<file path=ppt/tags/tag11.xml><?xml version="1.0" encoding="utf-8"?>
<p:tagLst xmlns:p="http://schemas.openxmlformats.org/presentationml/2006/main">
  <p:tag name="KSO_WM_DIAGRAM_VIRTUALLY_FRAME" val="{&quot;height&quot;:381.2,&quot;left&quot;:430.5,&quot;top&quot;:67.8,&quot;width&quot;:453.75}"/>
</p:tagLst>
</file>

<file path=ppt/tags/tag12.xml><?xml version="1.0" encoding="utf-8"?>
<p:tagLst xmlns:p="http://schemas.openxmlformats.org/presentationml/2006/main">
  <p:tag name="KSO_WM_DIAGRAM_VIRTUALLY_FRAME" val="{&quot;height&quot;:381.2,&quot;left&quot;:430.5,&quot;top&quot;:67.8,&quot;width&quot;:453.75}"/>
</p:tagLst>
</file>

<file path=ppt/tags/tag13.xml><?xml version="1.0" encoding="utf-8"?>
<p:tagLst xmlns:p="http://schemas.openxmlformats.org/presentationml/2006/main">
  <p:tag name="KSO_WM_DIAGRAM_VIRTUALLY_FRAME" val="{&quot;height&quot;:381.2,&quot;left&quot;:430.5,&quot;top&quot;:67.8,&quot;width&quot;:453.75}"/>
</p:tagLst>
</file>

<file path=ppt/tags/tag14.xml><?xml version="1.0" encoding="utf-8"?>
<p:tagLst xmlns:p="http://schemas.openxmlformats.org/presentationml/2006/main">
  <p:tag name="KSO_WM_DIAGRAM_VIRTUALLY_FRAME" val="{&quot;height&quot;:381.2,&quot;left&quot;:430.5,&quot;top&quot;:67.8,&quot;width&quot;:453.75}"/>
</p:tagLst>
</file>

<file path=ppt/tags/tag15.xml><?xml version="1.0" encoding="utf-8"?>
<p:tagLst xmlns:p="http://schemas.openxmlformats.org/presentationml/2006/main">
  <p:tag name="KSO_WM_DIAGRAM_VIRTUALLY_FRAME" val="{&quot;height&quot;:381.2,&quot;left&quot;:430.5,&quot;top&quot;:67.8,&quot;width&quot;:453.75}"/>
</p:tagLst>
</file>

<file path=ppt/tags/tag16.xml><?xml version="1.0" encoding="utf-8"?>
<p:tagLst xmlns:p="http://schemas.openxmlformats.org/presentationml/2006/main">
  <p:tag name="KSO_WM_DIAGRAM_VIRTUALLY_FRAME" val="{&quot;height&quot;:381.2,&quot;left&quot;:430.5,&quot;top&quot;:67.8,&quot;width&quot;:453.75}"/>
</p:tagLst>
</file>

<file path=ppt/tags/tag17.xml><?xml version="1.0" encoding="utf-8"?>
<p:tagLst xmlns:p="http://schemas.openxmlformats.org/presentationml/2006/main">
  <p:tag name="KSO_WM_DIAGRAM_VIRTUALLY_FRAME" val="{&quot;height&quot;:381.2,&quot;left&quot;:430.5,&quot;top&quot;:67.8,&quot;width&quot;:453.75}"/>
</p:tagLst>
</file>

<file path=ppt/tags/tag18.xml><?xml version="1.0" encoding="utf-8"?>
<p:tagLst xmlns:p="http://schemas.openxmlformats.org/presentationml/2006/main">
  <p:tag name="KSO_WM_DIAGRAM_VIRTUALLY_FRAME" val="{&quot;height&quot;:381.2,&quot;left&quot;:430.5,&quot;top&quot;:67.8,&quot;width&quot;:453.75}"/>
</p:tagLst>
</file>

<file path=ppt/theme/theme1.xml><?xml version="1.0" encoding="utf-8"?>
<a:theme xmlns:a="http://schemas.openxmlformats.org/drawingml/2006/main" name="Custom Theme">
  <a:themeElements>
    <a:clrScheme name="Custom">
      <a:dk1>
        <a:srgbClr val="1E1C0D"/>
      </a:dk1>
      <a:lt1>
        <a:srgbClr val="FFFFFF"/>
      </a:lt1>
      <a:dk2>
        <a:srgbClr val="DC62FA"/>
      </a:dk2>
      <a:lt2>
        <a:srgbClr val="E8DBCE"/>
      </a:lt2>
      <a:accent1>
        <a:srgbClr val="402E7F"/>
      </a:accent1>
      <a:accent2>
        <a:srgbClr val="BC7DB7"/>
      </a:accent2>
      <a:accent3>
        <a:srgbClr val="AF9DCD"/>
      </a:accent3>
      <a:accent4>
        <a:srgbClr val="FFFFFF"/>
      </a:accent4>
      <a:accent5>
        <a:srgbClr val="1E1C0D"/>
      </a:accent5>
      <a:accent6>
        <a:srgbClr val="00B0F0"/>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a:dk1>
        <a:srgbClr val="1E1C0D"/>
      </a:dk1>
      <a:lt1>
        <a:srgbClr val="FFFFFF"/>
      </a:lt1>
      <a:dk2>
        <a:srgbClr val="DC62FA"/>
      </a:dk2>
      <a:lt2>
        <a:srgbClr val="E8DBCE"/>
      </a:lt2>
      <a:accent1>
        <a:srgbClr val="402E7F"/>
      </a:accent1>
      <a:accent2>
        <a:srgbClr val="BC7DB7"/>
      </a:accent2>
      <a:accent3>
        <a:srgbClr val="AF9DCD"/>
      </a:accent3>
      <a:accent4>
        <a:srgbClr val="FFFFFF"/>
      </a:accent4>
      <a:accent5>
        <a:srgbClr val="1E1C0D"/>
      </a:accent5>
      <a:accent6>
        <a:srgbClr val="00B0F0"/>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2063</Words>
  <Application>WPS 演示</Application>
  <PresentationFormat>On-screen Show (16:9)</PresentationFormat>
  <Paragraphs>150</Paragraphs>
  <Slides>17</Slides>
  <Notes>17</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17</vt:i4>
      </vt:variant>
    </vt:vector>
  </HeadingPairs>
  <TitlesOfParts>
    <vt:vector size="29" baseType="lpstr">
      <vt:lpstr>Arial</vt:lpstr>
      <vt:lpstr>宋体</vt:lpstr>
      <vt:lpstr>Wingdings</vt:lpstr>
      <vt:lpstr>MiSans</vt:lpstr>
      <vt:lpstr>MiSans</vt:lpstr>
      <vt:lpstr>Calibri</vt:lpstr>
      <vt:lpstr>微软雅黑</vt:lpstr>
      <vt:lpstr>Arial Unicode MS</vt:lpstr>
      <vt:lpstr>等线</vt:lpstr>
      <vt:lpstr>思源黑体 CN Normal</vt:lpstr>
      <vt:lpstr>黑体</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蓝珊笔记智能社交平台开题报告</dc:title>
  <dc:creator>Kimi</dc:creator>
  <dc:subject>蓝珊笔记智能社交平台开题报告</dc:subject>
  <cp:lastModifiedBy>fafa桑</cp:lastModifiedBy>
  <cp:revision>2</cp:revision>
  <dcterms:created xsi:type="dcterms:W3CDTF">2025-11-20T07:39:00Z</dcterms:created>
  <dcterms:modified xsi:type="dcterms:W3CDTF">2025-11-20T07:54:27Z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{"Label":"蓝珊笔记智能社交平台开题报告","ContentProducer":"001191110108MACG2KBH8F10000","ProduceID":"d4fcap88obd1osiuha4g","ReservedCode1":"","ContentPropagator":"001191110108MACG2KBH8F20000","PropagateID":"d4fcap88obd1osiuha4g","ReservedCode2":""}</vt:lpwstr>
  </property>
  <property fmtid="{D5CDD505-2E9C-101B-9397-08002B2CF9AE}" pid="3" name="ICV">
    <vt:lpwstr>B2076486F270499697E7D2CA04518047_13</vt:lpwstr>
  </property>
  <property fmtid="{D5CDD505-2E9C-101B-9397-08002B2CF9AE}" pid="4" name="KSOProductBuildVer">
    <vt:lpwstr>2052-12.1.0.23125</vt:lpwstr>
  </property>
</Properties>
</file>